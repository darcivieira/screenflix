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50914"/>
                </a:solidFill>
                <a:latin typeface="Arial"/>
              </a:rPr>
              <a:t>S C R E E N F L I 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F5F7FA"/>
                </a:solidFill>
                <a:latin typeface="Arial"/>
              </a:rPr>
              <a:t>Workshop de Engenharia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A9B0BD"/>
                </a:solidFill>
                <a:latin typeface="Arial"/>
              </a:rPr>
              <a:t>Do container ao código, do código à IA — um projeto como fio condutor.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3429000" cy="137160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342900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4233671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50914"/>
                </a:solidFill>
                <a:latin typeface="Arial"/>
              </a:rPr>
              <a:t>DIA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44567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5F7FA"/>
                </a:solidFill>
                <a:latin typeface="Arial"/>
              </a:rPr>
              <a:t>Infra &amp; Containers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2" y="3977639"/>
            <a:ext cx="3429000" cy="137160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4507992" y="3977639"/>
            <a:ext cx="3429000" cy="64008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4233671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B3FF"/>
                </a:solidFill>
                <a:latin typeface="Arial"/>
              </a:rPr>
              <a:t>DIA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4544567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5F7FA"/>
                </a:solidFill>
                <a:latin typeface="Arial"/>
              </a:rPr>
              <a:t>Programação Pragmática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024" y="3977639"/>
            <a:ext cx="3429000" cy="137160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193024" y="3977639"/>
            <a:ext cx="3429000" cy="6400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4233671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2C55E"/>
                </a:solidFill>
                <a:latin typeface="Arial"/>
              </a:rPr>
              <a:t>DIA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4544567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5F7FA"/>
                </a:solidFill>
                <a:latin typeface="Arial"/>
              </a:rPr>
              <a:t>IA no Desenvolvimento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A9B0BD"/>
                </a:solidFill>
                <a:latin typeface="Arial"/>
              </a:rPr>
              <a:t>3 encontros de 1h30</a:t>
            </a:r>
            <a:r>
              <a:rPr sz="1300" b="0">
                <a:solidFill>
                  <a:srgbClr val="A9B0BD"/>
                </a:solidFill>
                <a:latin typeface="Arial"/>
              </a:rPr>
              <a:t>     ·     FastAPI · PostgreSQL · Docker · Vue 3 · Claude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50914"/>
                </a:solidFill>
                <a:latin typeface="Arial"/>
              </a:rPr>
              <a:t>VISÃO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Agenda dos 3 dias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Visão Geral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3611880" cy="356616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DIA 1 · Infra &amp; Containers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361188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971800"/>
            <a:ext cx="3200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E50914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Por que containers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E50914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Dockerfile multi-stage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E50914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docker-compose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E50914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Comandos &amp; Makefile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03120"/>
            <a:ext cx="3611880" cy="356616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DIA 2 · Programação Pragmática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103120"/>
            <a:ext cx="3611880" cy="64008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971800"/>
            <a:ext cx="3200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00B3FF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Ambientes modulares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00B3FF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Clean Architecture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00B3FF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Regra de dependência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00B3FF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Trade-offs pragmáticos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2103120"/>
            <a:ext cx="3611880" cy="356616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DIA 3 · IA no Desenvolvimento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2103120"/>
            <a:ext cx="3611880" cy="6400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2208" y="2971800"/>
            <a:ext cx="3200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22C55E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Claude Code &amp; CLAUDE.md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22C55E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Skills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22C55E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Subagents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22C55E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Agent Teams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A9B0BD"/>
                </a:solidFill>
                <a:latin typeface="Arial"/>
              </a:rPr>
              <a:t>Um único código-base — o ScreenFlix — conecta infra, arquitetura e 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50914"/>
                </a:solidFill>
                <a:latin typeface="Arial"/>
              </a:rPr>
              <a:t>INTRODUÇÃO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O projeto ScreenFlix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813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A9B0BD"/>
                </a:solidFill>
                <a:latin typeface="Arial"/>
              </a:rPr>
              <a:t>Catálogo de filmes e séries — nosso estudo de caso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Introdução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48840"/>
            <a:ext cx="2377440" cy="603504"/>
          </a:xfrm>
          <a:prstGeom prst="rect">
            <a:avLst/>
          </a:prstGeom>
          <a:solidFill>
            <a:srgbClr val="1E1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29514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B3FF"/>
                </a:solidFill>
                <a:latin typeface="Arial"/>
              </a:rPr>
              <a:t>Backend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148840"/>
            <a:ext cx="8595360" cy="603504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295144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5F7FA"/>
                </a:solidFill>
                <a:latin typeface="Arial"/>
              </a:rPr>
              <a:t>FastAPI · SQLAlchemy async · Pydantic · Structlog · uvicorn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98648"/>
            <a:ext cx="2377440" cy="603504"/>
          </a:xfrm>
          <a:prstGeom prst="rect">
            <a:avLst/>
          </a:prstGeom>
          <a:solidFill>
            <a:srgbClr val="1E1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04495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B3FF"/>
                </a:solidFill>
                <a:latin typeface="Arial"/>
              </a:rPr>
              <a:t>Dados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898648"/>
            <a:ext cx="8595360" cy="603504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3044952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5F7FA"/>
                </a:solidFill>
                <a:latin typeface="Arial"/>
              </a:rPr>
              <a:t>PostgreSQL 18 — tabelas media e episode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648456"/>
            <a:ext cx="2377440" cy="603504"/>
          </a:xfrm>
          <a:prstGeom prst="rect">
            <a:avLst/>
          </a:prstGeom>
          <a:solidFill>
            <a:srgbClr val="1E1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79476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B3FF"/>
                </a:solidFill>
                <a:latin typeface="Arial"/>
              </a:rPr>
              <a:t>Infra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3648456"/>
            <a:ext cx="8595360" cy="603504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794760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5F7FA"/>
                </a:solidFill>
                <a:latin typeface="Arial"/>
              </a:rPr>
              <a:t>Docker (multi-stage) · docker-compose · uv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398264"/>
            <a:ext cx="2377440" cy="603504"/>
          </a:xfrm>
          <a:prstGeom prst="rect">
            <a:avLst/>
          </a:prstGeom>
          <a:solidFill>
            <a:srgbClr val="1E1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45445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B3FF"/>
                </a:solidFill>
                <a:latin typeface="Arial"/>
              </a:rPr>
              <a:t>Frontend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4398264"/>
            <a:ext cx="8595360" cy="603504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0" y="4544568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5F7FA"/>
                </a:solidFill>
                <a:latin typeface="Arial"/>
              </a:rPr>
              <a:t>Vue 3 · Vue Router · Pinia · Vite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148072"/>
            <a:ext cx="2377440" cy="603504"/>
          </a:xfrm>
          <a:prstGeom prst="rect">
            <a:avLst/>
          </a:prstGeom>
          <a:solidFill>
            <a:srgbClr val="1E1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529437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B3FF"/>
                </a:solidFill>
                <a:latin typeface="Arial"/>
              </a:rPr>
              <a:t>Integrações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5148072"/>
            <a:ext cx="8595360" cy="603504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5294376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5F7FA"/>
                </a:solidFill>
                <a:latin typeface="Arial"/>
              </a:rPr>
              <a:t>OMDb (ingestão) + OpenAI (normalização por schema)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50914"/>
                </a:solidFill>
                <a:latin typeface="Arial"/>
              </a:rPr>
              <a:t>DIA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5F7FA"/>
                </a:solidFill>
                <a:latin typeface="Arial"/>
              </a:rPr>
              <a:t>Infra &amp; Containers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977639"/>
            <a:ext cx="10058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700" b="1">
                <a:solidFill>
                  <a:srgbClr val="E50914"/>
                </a:solidFill>
                <a:latin typeface="Arial"/>
              </a:rPr>
              <a:t>▸  </a:t>
            </a:r>
            <a:r>
              <a:rPr sz="1700">
                <a:solidFill>
                  <a:srgbClr val="F5F7FA"/>
                </a:solidFill>
                <a:latin typeface="Arial"/>
              </a:rPr>
              <a:t>Empacotar a aplicação de forma reprodutível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700" b="1">
                <a:solidFill>
                  <a:srgbClr val="E50914"/>
                </a:solidFill>
                <a:latin typeface="Arial"/>
              </a:rPr>
              <a:t>▸  </a:t>
            </a:r>
            <a:r>
              <a:rPr sz="1700">
                <a:solidFill>
                  <a:srgbClr val="F5F7FA"/>
                </a:solidFill>
                <a:latin typeface="Arial"/>
              </a:rPr>
              <a:t>Dockerfile multi-stage · docker-compose · comandos · Makefile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50914"/>
                </a:solidFill>
                <a:latin typeface="Arial"/>
              </a:rPr>
              <a:t>DIA 1 · INFRA &amp;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Por que containers?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1 · Infra &amp; Containers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A9B0BD"/>
                </a:solidFill>
                <a:latin typeface="Arial"/>
              </a:rPr>
              <a:t>Sem containers, cada dev reproduz o ambiente na mão — a origem do </a:t>
            </a:r>
            <a:r>
              <a:rPr sz="1600" b="1">
                <a:solidFill>
                  <a:srgbClr val="F5F7FA"/>
                </a:solidFill>
                <a:latin typeface="Arial"/>
              </a:rPr>
              <a:t>“na minha máquina funciona”.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3611880" cy="228600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Reprodutibilidade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A mesma imagem roda igual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em qualquer lugar.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43200"/>
            <a:ext cx="361188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2743200"/>
            <a:ext cx="3611880" cy="228600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Isolamento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O Postgres do projeto não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conflita com outro local.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743200"/>
            <a:ext cx="361188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2743200"/>
            <a:ext cx="3611880" cy="228600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Paridade dev/prod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A imagem testada é 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que vai para produção.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2743200"/>
            <a:ext cx="361188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50914"/>
                </a:solidFill>
                <a:latin typeface="Arial"/>
              </a:rPr>
              <a:t>DIA 1 · INFRA &amp;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Dockerfile multi-stage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1 · Infra &amp; Containers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6492240" cy="4023360"/>
          </a:xfrm>
          <a:prstGeom prst="rect">
            <a:avLst/>
          </a:prstGeom>
          <a:solidFill>
            <a:srgbClr val="0F0F17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A9B0BD"/>
                </a:solidFill>
                <a:latin typeface="Consolas"/>
              </a:rPr>
              <a:t># Stage 1: builder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FROM python:3.13-slim AS builder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RUN apt-get install build-essential libpq-dev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00B3FF"/>
                </a:solidFill>
                <a:latin typeface="Consolas"/>
              </a:rPr>
              <a:t>COPY pyproject.toml uv.lock ./   # cache de deps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RUN pip install uv &amp;&amp; uv sync --frozen --no-dev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COPY src/ src/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A9B0BD"/>
                </a:solidFill>
                <a:latin typeface="Consolas"/>
              </a:rPr>
              <a:t># Stage 2: runtime (enxuto)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FROM python:3.13-slim AS runtime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22C55E"/>
                </a:solidFill>
                <a:latin typeface="Consolas"/>
              </a:rPr>
              <a:t>RUN useradd -r screenflix        # non-root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COPY --from=builder /app/.venv .venv/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22C55E"/>
                </a:solidFill>
                <a:latin typeface="Consolas"/>
              </a:rPr>
              <a:t>HEALTHCHECK CMD curl -f .../healthz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CMD ["uvicorn", "screenflix.main:app", ...]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9480" y="1965960"/>
            <a:ext cx="4343400" cy="402336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Por que multi-stage?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Ferramentas de build ficam fora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da imagem final → menor e segura.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• Ordem dos COPY = cache de camadas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• Usuário non-root (segurança)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• HEALTHCHECK em /healthz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  (contrato de infra)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• PYTHONPATH=/app/src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69480" y="1965960"/>
            <a:ext cx="434340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50914"/>
                </a:solidFill>
                <a:latin typeface="Arial"/>
              </a:rPr>
              <a:t>DIA 1 · INFRA &amp;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docker-compose: db +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813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A9B0BD"/>
                </a:solidFill>
                <a:latin typeface="Arial"/>
              </a:rPr>
              <a:t>Dois serviços ativos — o api sobe após o banco ficar saudável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1 · Infra &amp; Containers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48840"/>
            <a:ext cx="6766560" cy="3840480"/>
          </a:xfrm>
          <a:prstGeom prst="rect">
            <a:avLst/>
          </a:prstGeom>
          <a:solidFill>
            <a:srgbClr val="0F0F17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00B3FF"/>
                </a:solidFill>
                <a:latin typeface="Consolas"/>
              </a:rPr>
              <a:t>services: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db: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image: postgres:18-alpine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volumes: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  - ./scripts/init.sql:/.../init.sql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ports: ["5532:5432"]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22C55E"/>
                </a:solidFill>
                <a:latin typeface="Consolas"/>
              </a:rPr>
              <a:t>    healthcheck: pg_isready ...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api: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build: { dockerfile: Dockerfile }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ports: ["8000:8000"]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00B3FF"/>
                </a:solidFill>
                <a:latin typeface="Consolas"/>
              </a:rPr>
              <a:t>    volumes: [ ./src:/app/src ]  # hot-reload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depends_on: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22C55E"/>
                </a:solidFill>
                <a:latin typeface="Consolas"/>
              </a:rPr>
              <a:t>      db: { condition: service_healthy 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2148840"/>
            <a:ext cx="4069080" cy="182880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image vs build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db usa imagem pronta;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api constrói do Dockerfile.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148840"/>
            <a:ext cx="4069080" cy="64008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43800" y="4114800"/>
            <a:ext cx="4069080" cy="1874519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YAGNI na prática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O serviço redis, antes reservado,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foi removido por falta de uso.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Não carregue infra que não usa.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4114800"/>
            <a:ext cx="406908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50914"/>
                </a:solidFill>
                <a:latin typeface="Arial"/>
              </a:rPr>
              <a:t>DIA 1 · INFRA &amp;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Comandos &amp; Makefile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1 · Infra &amp; Containers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5486400" cy="4023360"/>
          </a:xfrm>
          <a:prstGeom prst="rect">
            <a:avLst/>
          </a:prstGeom>
          <a:solidFill>
            <a:srgbClr val="0F0F17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A9B0BD"/>
                </a:solidFill>
                <a:latin typeface="Consolas"/>
              </a:rPr>
              <a:t># Comandos do dia a dia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F5F7FA"/>
                </a:solidFill>
                <a:latin typeface="Consolas"/>
              </a:rPr>
              <a:t>docker build -t screenflix .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F5F7FA"/>
                </a:solidFill>
                <a:latin typeface="Consolas"/>
              </a:rPr>
              <a:t>docker compose up --build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F5F7FA"/>
                </a:solidFill>
                <a:latin typeface="Consolas"/>
              </a:rPr>
              <a:t>docker compose logs -f api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F5F7FA"/>
                </a:solidFill>
                <a:latin typeface="Consolas"/>
              </a:rPr>
              <a:t>docker compose exec db psql ...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F5F7FA"/>
                </a:solidFill>
                <a:latin typeface="Consolas"/>
              </a:rPr>
              <a:t>docker compose down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F5F7FA"/>
                </a:solidFill>
                <a:latin typeface="Consolas"/>
              </a:rPr>
              <a:t> 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A9B0BD"/>
                </a:solidFill>
                <a:latin typeface="Consolas"/>
              </a:rPr>
              <a:t># Com Makefile vira: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22C55E"/>
                </a:solidFill>
                <a:latin typeface="Consolas"/>
              </a:rPr>
              <a:t>make up      make check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22C55E"/>
                </a:solidFill>
                <a:latin typeface="Consolas"/>
              </a:rPr>
              <a:t>make dev     make build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965960"/>
            <a:ext cx="5349240" cy="402336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Makefile — interface única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Ninguém decora o comando longo do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uvicorn. Com Makefile vira make dev.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• make help → documentação executável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• make check → roda os quality gates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  (ruff format, ruff check, mypy, pytest)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⚠ NÃO existe ainda no repo: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   criá-lo é o hands-on do dia.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965960"/>
            <a:ext cx="534924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0B3FF"/>
                </a:solidFill>
                <a:latin typeface="Arial"/>
              </a:rPr>
              <a:t>DIA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5F7FA"/>
                </a:solidFill>
                <a:latin typeface="Arial"/>
              </a:rPr>
              <a:t>Programação Pragmática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977639"/>
            <a:ext cx="10058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700" b="1">
                <a:solidFill>
                  <a:srgbClr val="00B3FF"/>
                </a:solidFill>
                <a:latin typeface="Arial"/>
              </a:rPr>
              <a:t>▸  </a:t>
            </a:r>
            <a:r>
              <a:rPr sz="1700">
                <a:solidFill>
                  <a:srgbClr val="F5F7FA"/>
                </a:solidFill>
                <a:latin typeface="Arial"/>
              </a:rPr>
              <a:t>Como o código se organiza por dentro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700" b="1">
                <a:solidFill>
                  <a:srgbClr val="00B3FF"/>
                </a:solidFill>
                <a:latin typeface="Arial"/>
              </a:rPr>
              <a:t>▸  </a:t>
            </a:r>
            <a:r>
              <a:rPr sz="1700">
                <a:solidFill>
                  <a:srgbClr val="F5F7FA"/>
                </a:solidFill>
                <a:latin typeface="Arial"/>
              </a:rPr>
              <a:t>Ambientes modulares · Clean Architecture · sem dogmatismo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B3FF"/>
                </a:solidFill>
                <a:latin typeface="Arial"/>
              </a:rPr>
              <a:t>DIA 2 · PROGRAMAÇÃO PRAGMÁTICA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Ambientes modulares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2 · Programação Pragmática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A9B0BD"/>
                </a:solidFill>
                <a:latin typeface="Arial"/>
              </a:rPr>
              <a:t>A aplicação </a:t>
            </a:r>
            <a:r>
              <a:rPr sz="1600" b="1">
                <a:solidFill>
                  <a:srgbClr val="F5F7FA"/>
                </a:solidFill>
                <a:latin typeface="Arial"/>
              </a:rPr>
              <a:t>não sabe</a:t>
            </a:r>
            <a:r>
              <a:rPr sz="1600" b="0">
                <a:solidFill>
                  <a:srgbClr val="A9B0BD"/>
                </a:solidFill>
                <a:latin typeface="Arial"/>
              </a:rPr>
              <a:t> onde roda — ela apenas lê configuração de fora.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60320"/>
            <a:ext cx="6400800" cy="3200400"/>
          </a:xfrm>
          <a:prstGeom prst="rect">
            <a:avLst/>
          </a:prstGeom>
          <a:solidFill>
            <a:srgbClr val="0F0F17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class Settings(BaseSettings):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model_config = SettingsConfigDict(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00B3FF"/>
                </a:solidFill>
                <a:latin typeface="Consolas"/>
              </a:rPr>
              <a:t>        env_prefix="SCREENFLIX_",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    env_file=".env")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app_name: str        # obrigatório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database_url: str     # obrigatório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openai_api_key: str   # obrigatório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A9B0BD"/>
                </a:solidFill>
                <a:latin typeface="Consolas"/>
              </a:rPr>
              <a:t>    database_echo: bool = False  # default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2560320"/>
            <a:ext cx="4434840" cy="320040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Fail fast + seguro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• Pydantic valida na inicialização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  → config inválida falha na hora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• Campos sem default = impossível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  subir mal configurado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• Segredos vêm do ambiente;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  .env no .gitignore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Frontend: mesma ideia via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VITE_API_BASE (com modo demo).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78040" y="2560320"/>
            <a:ext cx="4434840" cy="64008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B3FF"/>
                </a:solidFill>
                <a:latin typeface="Arial"/>
              </a:rPr>
              <a:t>DIA 2 · PROGRAMAÇÃO PRAGMÁTICA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Clean Architecture — as 4 camadas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2 · Programação Pragmática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103120"/>
            <a:ext cx="10515600" cy="713232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03120"/>
            <a:ext cx="109728" cy="713232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0370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E50914"/>
                </a:solidFill>
                <a:latin typeface="Arial"/>
              </a:rPr>
              <a:t>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231136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A9B0BD"/>
                </a:solidFill>
                <a:latin typeface="Arial"/>
              </a:rPr>
              <a:t>API HTTP (FastAPI) — endpoints finos, validação, DI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944368"/>
            <a:ext cx="10515600" cy="713232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944368"/>
            <a:ext cx="109728" cy="713232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04495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0B3FF"/>
                </a:solidFill>
                <a:latin typeface="Arial"/>
              </a:rPr>
              <a:t>Application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072384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A9B0BD"/>
                </a:solidFill>
                <a:latin typeface="Arial"/>
              </a:rPr>
              <a:t>Services, Use Cases e Schemas (DTOs) — orquestração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85616"/>
            <a:ext cx="10515600" cy="713232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85616"/>
            <a:ext cx="109728" cy="71323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8862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2C55E"/>
                </a:solidFill>
                <a:latin typeface="Arial"/>
              </a:rPr>
              <a:t>Infrastructure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913632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A9B0BD"/>
                </a:solidFill>
                <a:latin typeface="Arial"/>
              </a:rPr>
              <a:t>Repositórios — persistência (BaseRepository genérico)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626864"/>
            <a:ext cx="10515600" cy="713232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626864"/>
            <a:ext cx="109728" cy="7132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72744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Domain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7548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A9B0BD"/>
                </a:solidFill>
                <a:latin typeface="Arial"/>
              </a:rPr>
              <a:t>Entidades Media e Episode — o coração do negócio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F7FA"/>
                </a:solidFill>
                <a:latin typeface="Arial"/>
              </a:rPr>
              <a:t>Dependências apontam para dentro:  </a:t>
            </a:r>
            <a:r>
              <a:rPr sz="1500" b="1">
                <a:solidFill>
                  <a:srgbClr val="00B3FF"/>
                </a:solidFill>
                <a:latin typeface="Consolas"/>
              </a:rPr>
              <a:t>presentation → application → domain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B3FF"/>
                </a:solidFill>
                <a:latin typeface="Arial"/>
              </a:rPr>
              <a:t>DIA 2 · PROGRAMAÇÃO PRAGMÁTICA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Padrões &amp; regra de ouro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2 · Programação Pragmática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6400800" cy="2926080"/>
          </a:xfrm>
          <a:prstGeom prst="rect">
            <a:avLst/>
          </a:prstGeom>
          <a:solidFill>
            <a:srgbClr val="0F0F17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@router.get("/movies/top5")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async def top5(service = Depends(...)):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00B3FF"/>
                </a:solidFill>
                <a:latin typeface="Consolas"/>
              </a:rPr>
              <a:t>    return await service.top_five("movie")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class MediaService: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async def top_five(self, media_type):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    return await self.repository.media \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        .list_all(order_by="rating", ...)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78040" y="1965960"/>
            <a:ext cx="4434840" cy="292608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Injeção de Dependência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A DI encadeia: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sessão → service → endpoint.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O response_model garante 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contrato da saída.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965960"/>
            <a:ext cx="4434840" cy="64008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120640"/>
            <a:ext cx="11064240" cy="777240"/>
          </a:xfrm>
          <a:prstGeom prst="rect">
            <a:avLst/>
          </a:prstGeom>
          <a:solidFill>
            <a:srgbClr val="1E1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28523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REGRA DE OURO:  </a:t>
            </a:r>
            <a:r>
              <a:rPr sz="1500" b="0">
                <a:solidFill>
                  <a:srgbClr val="F5F7FA"/>
                </a:solidFill>
                <a:latin typeface="Arial"/>
              </a:rPr>
              <a:t>nunca consulte o banco direto de um endpoint — sempre service → repository.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B3FF"/>
                </a:solidFill>
                <a:latin typeface="Arial"/>
              </a:rPr>
              <a:t>DIA 2 · PROGRAMAÇÃO PRAGMÁTICA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Onde o ScreenFlix escolheu pragmatismo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2 · Programação Pragmática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107899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 b="1">
                <a:solidFill>
                  <a:srgbClr val="00B3FF"/>
                </a:solidFill>
                <a:latin typeface="Arial"/>
              </a:rPr>
              <a:t>▸  </a:t>
            </a:r>
            <a:r>
              <a:rPr sz="1700" b="1">
                <a:solidFill>
                  <a:srgbClr val="F5F7FA"/>
                </a:solidFill>
                <a:latin typeface="Arial"/>
              </a:rPr>
              <a:t>Entidades = modelos ORM  </a:t>
            </a:r>
            <a:r>
              <a:rPr sz="1700">
                <a:solidFill>
                  <a:srgbClr val="A9B0BD"/>
                </a:solidFill>
                <a:latin typeface="Arial"/>
              </a:rPr>
              <a:t>— simplicidade sobre portabilidade (não são POPOs puras).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 b="1">
                <a:solidFill>
                  <a:srgbClr val="00B3FF"/>
                </a:solidFill>
                <a:latin typeface="Arial"/>
              </a:rPr>
              <a:t>▸  </a:t>
            </a:r>
            <a:r>
              <a:rPr sz="1700" b="1">
                <a:solidFill>
                  <a:srgbClr val="F5F7FA"/>
                </a:solidFill>
                <a:latin typeface="Arial"/>
              </a:rPr>
              <a:t>register fire-and-forget  </a:t>
            </a:r>
            <a:r>
              <a:rPr sz="1700">
                <a:solidFill>
                  <a:srgbClr val="A9B0BD"/>
                </a:solidFill>
                <a:latin typeface="Arial"/>
              </a:rPr>
              <a:t>— dispara asyncio.create_task e responde na hora; sem fila durável, dívida consciente.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 b="1">
                <a:solidFill>
                  <a:srgbClr val="00B3FF"/>
                </a:solidFill>
                <a:latin typeface="Arial"/>
              </a:rPr>
              <a:t>▸  </a:t>
            </a:r>
            <a:r>
              <a:rPr sz="1700" b="1">
                <a:solidFill>
                  <a:srgbClr val="F5F7FA"/>
                </a:solidFill>
                <a:latin typeface="Arial"/>
              </a:rPr>
              <a:t>Top 5 no frontend  </a:t>
            </a:r>
            <a:r>
              <a:rPr sz="1700">
                <a:solidFill>
                  <a:srgbClr val="A9B0BD"/>
                </a:solidFill>
                <a:latin typeface="Arial"/>
              </a:rPr>
              <a:t>— apesar de existirem endpoints /top5, a Home calcula no cliente.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892040"/>
            <a:ext cx="10881360" cy="100584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7492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Clean Architecture é um espectro, não um checklist. </a:t>
            </a:r>
            <a:r>
              <a:rPr sz="1600" b="0">
                <a:solidFill>
                  <a:srgbClr val="A9B0BD"/>
                </a:solidFill>
                <a:latin typeface="Arial"/>
              </a:rPr>
              <a:t>O valor está em camadas com responsabilidades claras — e em saber, conscientemente, onde relaxar.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22C55E"/>
                </a:solidFill>
                <a:latin typeface="Arial"/>
              </a:rPr>
              <a:t>DIA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5F7FA"/>
                </a:solidFill>
                <a:latin typeface="Arial"/>
              </a:rPr>
              <a:t>IA no Desenvolvimento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977639"/>
            <a:ext cx="10058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700" b="1">
                <a:solidFill>
                  <a:srgbClr val="22C55E"/>
                </a:solidFill>
                <a:latin typeface="Arial"/>
              </a:rPr>
              <a:t>▸  </a:t>
            </a:r>
            <a:r>
              <a:rPr sz="1700">
                <a:solidFill>
                  <a:srgbClr val="F5F7FA"/>
                </a:solidFill>
                <a:latin typeface="Arial"/>
              </a:rPr>
              <a:t>Fazer a IA respeitar a infra (Dia 1) e a arquitetura (Dia 2)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700" b="1">
                <a:solidFill>
                  <a:srgbClr val="22C55E"/>
                </a:solidFill>
                <a:latin typeface="Arial"/>
              </a:rPr>
              <a:t>▸  </a:t>
            </a:r>
            <a:r>
              <a:rPr sz="1700">
                <a:solidFill>
                  <a:srgbClr val="F5F7FA"/>
                </a:solidFill>
                <a:latin typeface="Arial"/>
              </a:rPr>
              <a:t>Claude Code · Skills · Subagents · Agent Teams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2C55E"/>
                </a:solidFill>
                <a:latin typeface="Arial"/>
              </a:rPr>
              <a:t>DIA 3 · IA NO DESENVOLVIMENTO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O insight do ScreenFlix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813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A9B0BD"/>
                </a:solidFill>
                <a:latin typeface="Arial"/>
              </a:rPr>
              <a:t>O repo já foi construído pensando em IA — vamos traduzir esse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3 · IA no Desenvolvimento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48840"/>
            <a:ext cx="5394960" cy="502920"/>
          </a:xfrm>
          <a:prstGeom prst="rect">
            <a:avLst/>
          </a:prstGeom>
          <a:solidFill>
            <a:srgbClr val="1E1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31136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A9B0BD"/>
                </a:solidFill>
                <a:latin typeface="Arial"/>
              </a:rPr>
              <a:t>Contexto genérico do repo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48840"/>
            <a:ext cx="5303520" cy="502920"/>
          </a:xfrm>
          <a:prstGeom prst="rect">
            <a:avLst/>
          </a:prstGeom>
          <a:solidFill>
            <a:srgbClr val="1E1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311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2C55E"/>
                </a:solidFill>
                <a:latin typeface="Arial"/>
              </a:rPr>
              <a:t>Artefato nativo do Claude Code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743200"/>
            <a:ext cx="539496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84378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5F7FA"/>
                </a:solidFill>
                <a:latin typeface="Consolas"/>
              </a:rPr>
              <a:t>AGENTS.md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1888" y="2807208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C55E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743200"/>
            <a:ext cx="530352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84378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CLAUDE.md (memória de projeto)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291840"/>
            <a:ext cx="539496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39242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5F7FA"/>
                </a:solidFill>
                <a:latin typeface="Consolas"/>
              </a:rPr>
              <a:t>AI-CONFIG.json → quality_checks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3355848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C55E"/>
                </a:solidFill>
                <a:latin typeface="Arial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3291840"/>
            <a:ext cx="530352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39242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Skill /quality-gate + Hook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840480"/>
            <a:ext cx="539496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94106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5F7FA"/>
                </a:solidFill>
                <a:latin typeface="Consolas"/>
              </a:rPr>
              <a:t>agents/backend-development.md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61888" y="3904488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C55E"/>
                </a:solidFill>
                <a:latin typeface="Arial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840480"/>
            <a:ext cx="530352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394106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Subagent  backend-dev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389120"/>
            <a:ext cx="539496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48970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5F7FA"/>
                </a:solidFill>
                <a:latin typeface="Consolas"/>
              </a:rPr>
              <a:t>agents/qa-guidelines.md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61888" y="4453128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C55E"/>
                </a:solidFill>
                <a:latin typeface="Arial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389120"/>
            <a:ext cx="530352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448970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Subagent  qa-reviewer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937760"/>
            <a:ext cx="539496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03834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5F7FA"/>
                </a:solidFill>
                <a:latin typeface="Consolas"/>
              </a:rPr>
              <a:t>agents/security-check.md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5001768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C55E"/>
                </a:solidFill>
                <a:latin typeface="Arial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4937760"/>
            <a:ext cx="530352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503834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Subagent  security-check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486400"/>
            <a:ext cx="539496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58698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5F7FA"/>
                </a:solidFill>
                <a:latin typeface="Consolas"/>
              </a:rPr>
              <a:t>vários subagents juntos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61888" y="5550408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C55E"/>
                </a:solidFill>
                <a:latin typeface="Arial"/>
              </a:rPr>
              <a:t>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5486400"/>
            <a:ext cx="530352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2240" y="558698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Agent Team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2C55E"/>
                </a:solidFill>
                <a:latin typeface="Arial"/>
              </a:rPr>
              <a:t>DIA 3 · IA NO DESENVOLVIMENTO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Skills vs Subagents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3 · IA no Desenvolvimento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5440680" cy="393192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Skill  ·  .claude/skills/*/SKILL.md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Procedimento reutilizável na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conversa principal, carregado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sob demanda. Vira /comando.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Ex.: /quality-gate roda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ruff format · ruff check ·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mypy src · pytest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(os gates bloqueantes do projeto).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Hook: torna o gate automático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no evento Stop (settings.json).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5440680" cy="6400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2011680"/>
            <a:ext cx="5440680" cy="393192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Subagent  ·  .claude/agents/*.md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Trabalhador isolado, com contexto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e ferramentas próprios. O Claude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principal delega pela description.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Cada guia de /agents vira um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especialista: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  architect · backend-dev ·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  database-dev · security-check ·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  qa-reviewer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Roda do zero e devolve resultado.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544068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2C55E"/>
                </a:solidFill>
                <a:latin typeface="Arial"/>
              </a:rPr>
              <a:t>DIA 3 · IA NO DESENVOLVIMENTO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Agent Teams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813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A9B0BD"/>
                </a:solidFill>
                <a:latin typeface="Arial"/>
              </a:rPr>
              <a:t>Orquestração multi-agente — experimental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3 · IA no Desenvolvimento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5F7FA"/>
                </a:solidFill>
                <a:latin typeface="Arial"/>
              </a:rPr>
              <a:t>EXPERIMENTAL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14600"/>
            <a:ext cx="2560320" cy="5029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F7FA"/>
                </a:solidFill>
                <a:latin typeface="Arial"/>
              </a:rPr>
              <a:t>Aspecto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2514600"/>
            <a:ext cx="4160520" cy="502920"/>
          </a:xfrm>
          <a:prstGeom prst="rect">
            <a:avLst/>
          </a:prstGeom>
          <a:solidFill>
            <a:srgbClr val="1E1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2624328"/>
            <a:ext cx="3977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F7FA"/>
                </a:solidFill>
                <a:latin typeface="Arial"/>
              </a:rPr>
              <a:t>Subagents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9480" y="2514600"/>
            <a:ext cx="4343400" cy="502920"/>
          </a:xfrm>
          <a:prstGeom prst="rect">
            <a:avLst/>
          </a:prstGeom>
          <a:solidFill>
            <a:srgbClr val="1E1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624328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F7FA"/>
                </a:solidFill>
                <a:latin typeface="Arial"/>
              </a:rPr>
              <a:t>Agent Teams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017520"/>
            <a:ext cx="2560320" cy="566928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1546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B3FF"/>
                </a:solidFill>
                <a:latin typeface="Arial"/>
              </a:rPr>
              <a:t>Comunicação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3017520"/>
            <a:ext cx="4160520" cy="566928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15468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9B0BD"/>
                </a:solidFill>
                <a:latin typeface="Arial"/>
              </a:rPr>
              <a:t>Reportam ao principal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80" y="3017520"/>
            <a:ext cx="4343400" cy="566928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0" y="315468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9B0BD"/>
                </a:solidFill>
                <a:latin typeface="Arial"/>
              </a:rPr>
              <a:t>Teammates conversam entre si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84448"/>
            <a:ext cx="2560320" cy="566928"/>
          </a:xfrm>
          <a:prstGeom prst="rect">
            <a:avLst/>
          </a:prstGeom>
          <a:solidFill>
            <a:srgbClr val="141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72160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B3FF"/>
                </a:solidFill>
                <a:latin typeface="Arial"/>
              </a:rPr>
              <a:t>Coordenação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3584448"/>
            <a:ext cx="4160520" cy="566928"/>
          </a:xfrm>
          <a:prstGeom prst="rect">
            <a:avLst/>
          </a:prstGeom>
          <a:solidFill>
            <a:srgbClr val="141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6120" y="3721608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9B0BD"/>
                </a:solidFill>
                <a:latin typeface="Arial"/>
              </a:rPr>
              <a:t>O principal gerencia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3584448"/>
            <a:ext cx="4343400" cy="566928"/>
          </a:xfrm>
          <a:prstGeom prst="rect">
            <a:avLst/>
          </a:prstGeom>
          <a:solidFill>
            <a:srgbClr val="141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372160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9B0BD"/>
                </a:solidFill>
                <a:latin typeface="Arial"/>
              </a:rPr>
              <a:t>Lista de tarefas compartilhada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151376"/>
            <a:ext cx="2560320" cy="566928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288536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B3FF"/>
                </a:solidFill>
                <a:latin typeface="Arial"/>
              </a:rPr>
              <a:t>Uso ideal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4151376"/>
            <a:ext cx="4160520" cy="566928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46120" y="4288536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9B0BD"/>
                </a:solidFill>
                <a:latin typeface="Arial"/>
              </a:rPr>
              <a:t>Tarefas focadas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69480" y="4151376"/>
            <a:ext cx="4343400" cy="566928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0" y="4288536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9B0BD"/>
                </a:solidFill>
                <a:latin typeface="Arial"/>
              </a:rPr>
              <a:t>Trabalho paralelo complexo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212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2C55E"/>
                </a:solidFill>
                <a:latin typeface="Arial"/>
              </a:rPr>
              <a:t>Regra prática: </a:t>
            </a:r>
            <a:r>
              <a:rPr sz="1500" b="0">
                <a:solidFill>
                  <a:srgbClr val="A9B0BD"/>
                </a:solidFill>
                <a:latin typeface="Arial"/>
              </a:rPr>
              <a:t>comece simples — subagent para mudanças focadas; team só para trabalho amplo e paralelizável.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50914"/>
                </a:solidFill>
                <a:latin typeface="Arial"/>
              </a:rPr>
              <a:t>SÍNTESE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A jornada, num só repositório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Síntese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1554480" cy="77724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14016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5F7FA"/>
                </a:solidFill>
                <a:latin typeface="Arial"/>
              </a:rPr>
              <a:t>DIA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194560"/>
            <a:ext cx="9235440" cy="77724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4600" y="2304288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5F7FA"/>
                </a:solidFill>
                <a:latin typeface="Arial"/>
              </a:rPr>
              <a:t>Empacotar a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615184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9B0BD"/>
                </a:solidFill>
                <a:latin typeface="Arial"/>
              </a:rPr>
              <a:t>Dockerfile, compose, Makefile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54680"/>
            <a:ext cx="1554480" cy="777240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74136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5F7FA"/>
                </a:solidFill>
                <a:latin typeface="Arial"/>
              </a:rPr>
              <a:t>DIA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3154680"/>
            <a:ext cx="9235440" cy="77724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14600" y="3264408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5F7FA"/>
                </a:solidFill>
                <a:latin typeface="Arial"/>
              </a:rPr>
              <a:t>Organizar por dentro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3575304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9B0BD"/>
                </a:solidFill>
                <a:latin typeface="Arial"/>
              </a:rPr>
              <a:t>Ambientes modulares + Clean Architecture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114800"/>
            <a:ext cx="1554480" cy="7772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334256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5F7FA"/>
                </a:solidFill>
                <a:latin typeface="Arial"/>
              </a:rPr>
              <a:t>DIA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0" y="4114800"/>
            <a:ext cx="9235440" cy="77724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14600" y="4224528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5F7FA"/>
                </a:solidFill>
                <a:latin typeface="Arial"/>
              </a:rPr>
              <a:t>IA disciplinada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4535424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9B0BD"/>
                </a:solidFill>
                <a:latin typeface="Arial"/>
              </a:rPr>
              <a:t>CLAUDE.md, Skills, Subagents, Teams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257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F7FA"/>
                </a:solidFill>
                <a:latin typeface="Arial"/>
              </a:rPr>
              <a:t>Os artefatos de IA fazem cumprir a arquitetura: </a:t>
            </a:r>
            <a:r>
              <a:rPr sz="1500" b="0">
                <a:solidFill>
                  <a:srgbClr val="A9B0BD"/>
                </a:solidFill>
                <a:latin typeface="Arial"/>
              </a:rPr>
              <a:t>o qa-reviewer exige testes, o architect protege as camadas, a Skill roda os gates.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F5F7FA"/>
                </a:solidFill>
                <a:latin typeface="Arial"/>
              </a:rPr>
              <a:t>Obrigado!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4290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A9B0BD"/>
                </a:solidFill>
                <a:latin typeface="Arial"/>
              </a:rPr>
              <a:t>Perguntas? Vamos colocar a mão na massa.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206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A9B0BD"/>
                </a:solidFill>
                <a:latin typeface="Arial"/>
              </a:rPr>
              <a:t>Material completo:  </a:t>
            </a:r>
            <a:r>
              <a:rPr sz="1400" b="1">
                <a:solidFill>
                  <a:srgbClr val="00B3FF"/>
                </a:solidFill>
                <a:latin typeface="Consolas"/>
              </a:rPr>
              <a:t>docs/workshop/ (roteiros + apostila)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