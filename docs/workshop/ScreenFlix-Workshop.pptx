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50914"/>
                </a:solidFill>
                <a:latin typeface="Arial"/>
              </a:rPr>
              <a:t>S C R E E N F L I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5F7FA"/>
                </a:solidFill>
                <a:latin typeface="Arial"/>
              </a:rPr>
              <a:t>Workshop de Engenharia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9B0BD"/>
                </a:solidFill>
                <a:latin typeface="Arial"/>
              </a:rPr>
              <a:t>Do container ao código, do código à IA — um projeto como fio condutor.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977639"/>
            <a:ext cx="3429000" cy="13716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977639"/>
            <a:ext cx="342900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23367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544567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5F7FA"/>
                </a:solidFill>
                <a:latin typeface="Arial"/>
              </a:rPr>
              <a:t>Infra &amp; Containers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3977639"/>
            <a:ext cx="3429000" cy="13716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07992" y="3977639"/>
            <a:ext cx="342900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23367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544567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5F7FA"/>
                </a:solidFill>
                <a:latin typeface="Arial"/>
              </a:rPr>
              <a:t>Programação Pragmática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3977639"/>
            <a:ext cx="3429000" cy="13716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3977639"/>
            <a:ext cx="342900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423367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Arial"/>
              </a:rPr>
              <a:t>DIA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4544567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5F7FA"/>
                </a:solidFill>
                <a:latin typeface="Arial"/>
              </a:rPr>
              <a:t>IA no Desenvolvimento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9B0BD"/>
                </a:solidFill>
                <a:latin typeface="Arial"/>
              </a:rPr>
              <a:t>3 encontros de 1h30</a:t>
            </a:r>
            <a:r>
              <a:rPr sz="1300" b="0">
                <a:solidFill>
                  <a:srgbClr val="A9B0BD"/>
                </a:solidFill>
                <a:latin typeface="Arial"/>
              </a:rPr>
              <a:t>     ·     FastAPI · PostgreSQL · Docker · Vue 3 ·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Agenda dos 3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Visão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3611880" cy="356616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61188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971800"/>
            <a:ext cx="3200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E50914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Por que containers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E50914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Dockerfile multi-stage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E50914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docker-compose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E50914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Comandos &amp; Makefile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103120"/>
            <a:ext cx="3611880" cy="356616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103120"/>
            <a:ext cx="361188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971800"/>
            <a:ext cx="3200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Ambientes modulares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Clean Architecture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Regra de dependência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Trade-offs pragmáticos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611880" cy="356616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DIA 3 · IA no Desenvolvimento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103120"/>
            <a:ext cx="361188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971800"/>
            <a:ext cx="3200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2C55E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Claude Code &amp; CLAUDE.md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2C55E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Skills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2C55E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Subagents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22C55E"/>
                </a:solidFill>
                <a:latin typeface="Arial"/>
              </a:rPr>
              <a:t>▸  </a:t>
            </a:r>
            <a:r>
              <a:rPr sz="1500">
                <a:solidFill>
                  <a:srgbClr val="F5F7FA"/>
                </a:solidFill>
                <a:latin typeface="Arial"/>
              </a:rPr>
              <a:t>Agent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0BD"/>
                </a:solidFill>
                <a:latin typeface="Arial"/>
              </a:rPr>
              <a:t>Um único código-base — o ScreenFlix — conecta infra, arquitetura e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INTRODUÇÃO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O projeto ScreenFlix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Catálogo de filmes e séries — nosso estudo de caso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Introdução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377440" cy="603504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2951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48840"/>
            <a:ext cx="8595360" cy="603504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295144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Arial"/>
              </a:rPr>
              <a:t>FastAPI · SQLAlchemy async · Pydantic · Structlog · uvicorn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2377440" cy="603504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4495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Dados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98648"/>
            <a:ext cx="8595360" cy="603504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044952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Arial"/>
              </a:rPr>
              <a:t>PostgreSQL 18 — tabelas media e episode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48456"/>
            <a:ext cx="2377440" cy="603504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94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Infra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595360" cy="603504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3794760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Arial"/>
              </a:rPr>
              <a:t>Docker (multi-stage) · docker-compose · uv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98264"/>
            <a:ext cx="2377440" cy="603504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5445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Frontend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398264"/>
            <a:ext cx="8595360" cy="603504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544568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Arial"/>
              </a:rPr>
              <a:t>Vue 3 · Vue Router · Pinia · Vite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148072"/>
            <a:ext cx="2377440" cy="603504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29437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0B3FF"/>
                </a:solidFill>
                <a:latin typeface="Arial"/>
              </a:rPr>
              <a:t>Integrações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48072"/>
            <a:ext cx="8595360" cy="603504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294376"/>
            <a:ext cx="8321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5F7FA"/>
                </a:solidFill>
                <a:latin typeface="Arial"/>
              </a:rPr>
              <a:t>OMDb (ingestão) + OpenAI (normalização por schema)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E50914"/>
                </a:solidFill>
                <a:latin typeface="Arial"/>
              </a:rPr>
              <a:t>DIA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5F7FA"/>
                </a:solidFill>
                <a:latin typeface="Arial"/>
              </a:rPr>
              <a:t>Infra &amp; 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>
                <a:solidFill>
                  <a:srgbClr val="E50914"/>
                </a:solidFill>
                <a:latin typeface="Arial"/>
              </a:rPr>
              <a:t>▸  </a:t>
            </a:r>
            <a:r>
              <a:rPr sz="1700">
                <a:solidFill>
                  <a:srgbClr val="F5F7FA"/>
                </a:solidFill>
                <a:latin typeface="Arial"/>
              </a:rPr>
              <a:t>Empacotar a aplicação de forma reprodutível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>
                <a:solidFill>
                  <a:srgbClr val="E50914"/>
                </a:solidFill>
                <a:latin typeface="Arial"/>
              </a:rPr>
              <a:t>▸  </a:t>
            </a:r>
            <a:r>
              <a:rPr sz="1700">
                <a:solidFill>
                  <a:srgbClr val="F5F7FA"/>
                </a:solidFill>
                <a:latin typeface="Arial"/>
              </a:rPr>
              <a:t>Dockerfile multi-stage · docker-compose · comandos · Makefile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Por que containers?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1 · Infra &amp;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9B0BD"/>
                </a:solidFill>
                <a:latin typeface="Arial"/>
              </a:rPr>
              <a:t>Sem containers, cada dev reproduz o ambiente na mão — a origem do </a:t>
            </a:r>
            <a:r>
              <a:rPr sz="1600" b="1">
                <a:solidFill>
                  <a:srgbClr val="F5F7FA"/>
                </a:solidFill>
                <a:latin typeface="Arial"/>
              </a:rPr>
              <a:t>“na minha máquina funciona”.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3611880" cy="22860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Reprodutibilidade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A mesma imagem roda igual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em qualquer lugar.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361188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743200"/>
            <a:ext cx="3611880" cy="22860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Isolamento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O Postgres do projeto não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conflita com outro local.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743200"/>
            <a:ext cx="361188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743200"/>
            <a:ext cx="3611880" cy="22860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Paridade dev/prod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A imagem testada é 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que vai para produção.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743200"/>
            <a:ext cx="361188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Dockerfile multi-stage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1 · Infra &amp;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6492240" cy="402336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# Stage 1: builder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FROM python:3.13-slim AS builder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RUN apt-get install build-essential libpq-dev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00B3FF"/>
                </a:solidFill>
                <a:latin typeface="Consolas"/>
              </a:rPr>
              <a:t>COPY pyproject.toml uv.lock ./   # cache de deps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RUN pip install uv &amp;&amp; uv sync --frozen --no-dev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COPY src/ src/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# Stage 2: runtime (enxuto)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FROM python:3.13-slim AS runtime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RUN useradd -r screenflix        # non-root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COPY --from=builder /app/.venv .venv/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HEALTHCHECK CMD curl -f .../healthz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CMD ["uvicorn", "screenflix.main:app", ...]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965960"/>
            <a:ext cx="4343400" cy="402336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Por que multi-stage?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Ferramentas de build ficam fora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da imagem final → menor e segura.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Ordem dos COPY = cache de camadas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Usuário non-root (segurança)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HEALTHCHECK em /healthz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  (contrato de infra)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PYTHONPATH=/app/src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965960"/>
            <a:ext cx="434340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docker-compose: db +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Dois serviços ativos — o api sobe após o banco ficar saudável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1 · Infra &amp; 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6766560" cy="384048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00B3FF"/>
                </a:solidFill>
                <a:latin typeface="Consolas"/>
              </a:rPr>
              <a:t>services: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db: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image: postgres:18-alpine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volumes: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  - ./scripts/init.sql:/.../init.sql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ports: ["5532:5432"]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    healthcheck: pg_isready ...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api: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build: { dockerfile: Dockerfile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ports: ["8000:8000"]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00B3FF"/>
                </a:solidFill>
                <a:latin typeface="Consolas"/>
              </a:rPr>
              <a:t>    volumes: [ ./src:/app/src ]  # hot-reload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depends_on: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      db: { condition: service_healthy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2148840"/>
            <a:ext cx="4069080" cy="18288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image vs build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db usa imagem pronta;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api constrói do Dockerfile.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148840"/>
            <a:ext cx="406908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4114800"/>
            <a:ext cx="4069080" cy="1874519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YAGNI na prática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O serviço redis, antes reservado,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foi removido por falta de uso.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Não carregue infra que não usa.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4114800"/>
            <a:ext cx="40690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Comandos essenciais no dia a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1 · Infra &amp;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943600" cy="402336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docker build -t screenflix 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A9B0BD"/>
                </a:solidFill>
                <a:latin typeface="Consolas"/>
              </a:rPr>
              <a:t>docker compose up -d          # background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A9B0BD"/>
                </a:solidFill>
                <a:latin typeface="Consolas"/>
              </a:rPr>
              <a:t>docker compose up --build     # rebuild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docker compose ps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docker compose logs -f api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docker compose exec api bash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docker compose exec db psql ...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docker compose down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9E0B"/>
                </a:solidFill>
                <a:latin typeface="Consolas"/>
              </a:rPr>
              <a:t>docker compose down -v        # apaga volumes!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965960"/>
            <a:ext cx="4892040" cy="27432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Contraste — sem Docker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uv sync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uv run uvicorn screenflix.main:app --reload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Aqui você precisa do Python 3.13 e de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um Postgres acessível na máquina.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No compose, tudo já vem junto e igual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para todo mundo.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965960"/>
            <a:ext cx="489204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4892040"/>
            <a:ext cx="4892040" cy="96012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5047488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Susto clássico:  </a:t>
            </a:r>
            <a:r>
              <a:rPr sz="1400" b="0">
                <a:solidFill>
                  <a:srgbClr val="F5F7FA"/>
                </a:solidFill>
                <a:latin typeface="Arial"/>
              </a:rPr>
              <a:t>down preserva os dados; down -v apaga os volumes.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Makefile — a interface única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Já existe no projeto: nós lemos, usamos e estendemos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1 · Infra &amp; 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6126480" cy="3703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SHELL := bash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.SHELLFLAGS := -eu -o pipefail -c  # falha cedo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COMPOSE := docker compose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00B3FF"/>
                </a:solidFill>
                <a:latin typeface="Consolas"/>
              </a:rPr>
              <a:t>.DEFAULT_GOAL := help   # `make` = ajuda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help: ## varre os comentários ## do arquivo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check: lint typecheck test   # CI local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test-unit:        pytest -m "not integration"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test-integration: pytest -m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148840"/>
            <a:ext cx="4709160" cy="370332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Interface única do time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Ninguém decora o comando longo do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uvicorn → make dev.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Seções: setup · dev · qualidade ·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docker · frontend · limpeza.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make check = CI local (lint+types+test)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make help se auto-documenta (sort)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Hands-on: adicionar make db-shell.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148840"/>
            <a:ext cx="4709160" cy="6400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DIA 1 · INFRA &amp;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Fechamento &amp; gancho para o Dia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1 · Infra &amp;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E50914"/>
                </a:solidFill>
                <a:latin typeface="Arial"/>
              </a:rPr>
              <a:t>▸  </a:t>
            </a:r>
            <a:r>
              <a:rPr sz="1800" b="1">
                <a:solidFill>
                  <a:srgbClr val="F5F7FA"/>
                </a:solidFill>
                <a:latin typeface="Arial"/>
              </a:rPr>
              <a:t>Container = ambiente reproduzível  </a:t>
            </a:r>
            <a:r>
              <a:rPr sz="1800">
                <a:solidFill>
                  <a:srgbClr val="A9B0BD"/>
                </a:solidFill>
                <a:latin typeface="Arial"/>
              </a:rPr>
              <a:t>— Dockerfile multi-stage: imagem enxuta, non-root, com healthcheck.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E50914"/>
                </a:solidFill>
                <a:latin typeface="Arial"/>
              </a:rPr>
              <a:t>▸  </a:t>
            </a:r>
            <a:r>
              <a:rPr sz="1800" b="1">
                <a:solidFill>
                  <a:srgbClr val="F5F7FA"/>
                </a:solidFill>
                <a:latin typeface="Arial"/>
              </a:rPr>
              <a:t>docker-compose orquestra  </a:t>
            </a:r>
            <a:r>
              <a:rPr sz="1800">
                <a:solidFill>
                  <a:srgbClr val="A9B0BD"/>
                </a:solidFill>
                <a:latin typeface="Arial"/>
              </a:rPr>
              <a:t>api + db; o init.sql faz o bootstrap do schema.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800" b="1">
                <a:solidFill>
                  <a:srgbClr val="E50914"/>
                </a:solidFill>
                <a:latin typeface="Arial"/>
              </a:rPr>
              <a:t>▸  </a:t>
            </a:r>
            <a:r>
              <a:rPr sz="1800" b="1">
                <a:solidFill>
                  <a:srgbClr val="F5F7FA"/>
                </a:solidFill>
                <a:latin typeface="Arial"/>
              </a:rPr>
              <a:t>Makefile é a interface única  </a:t>
            </a:r>
            <a:r>
              <a:rPr sz="1800">
                <a:solidFill>
                  <a:srgbClr val="A9B0BD"/>
                </a:solidFill>
                <a:latin typeface="Arial"/>
              </a:rPr>
              <a:t>— make check é o CI local do projeto.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754880"/>
            <a:ext cx="91440" cy="109728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5604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0B3FF"/>
                </a:solidFill>
                <a:latin typeface="Arial"/>
              </a:rPr>
              <a:t>Gancho:  </a:t>
            </a:r>
            <a:r>
              <a:rPr sz="1600" b="0">
                <a:solidFill>
                  <a:srgbClr val="F5F7FA"/>
                </a:solidFill>
                <a:latin typeface="Arial"/>
              </a:rPr>
              <a:t>hoje empacotamos a aplicação. Amanhã abrimos a caixa — como o código se organiza por dentro (ambientes modulares e Clean Architecture).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00B3FF"/>
                </a:solidFill>
                <a:latin typeface="Arial"/>
              </a:rPr>
              <a:t>DIA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5F7FA"/>
                </a:solidFill>
                <a:latin typeface="Arial"/>
              </a:rPr>
              <a:t>Programação Pragmática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>
                <a:solidFill>
                  <a:srgbClr val="F5F7FA"/>
                </a:solidFill>
                <a:latin typeface="Arial"/>
              </a:rPr>
              <a:t>Como o código se organiza por dentro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>
                <a:solidFill>
                  <a:srgbClr val="F5F7FA"/>
                </a:solidFill>
                <a:latin typeface="Arial"/>
              </a:rPr>
              <a:t>Ambientes modulares · Clean Architecture · sem dogmatismo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Arquitetura serve à mudança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Pragmática = aplicar princípios na medida certa, sem dogma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2 · Programação Pragmática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F5F7FA"/>
                </a:solidFill>
                <a:latin typeface="Arial"/>
              </a:rPr>
              <a:t>Arquitetura não é enfeite. Ela existe para tornar a mudança </a:t>
            </a:r>
            <a:r>
              <a:rPr sz="2300" b="1">
                <a:solidFill>
                  <a:srgbClr val="00B3FF"/>
                </a:solidFill>
                <a:latin typeface="Arial"/>
              </a:rPr>
              <a:t>barata e segura.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10881360" cy="16002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Monólito modular em camadas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A9B0BD"/>
                </a:solidFill>
                <a:latin typeface="Arial"/>
              </a:rPr>
              <a:t>Um único deploy — simples de operar — mas bem organizado por dentro, fácil de evoluir.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500">
                <a:solidFill>
                  <a:srgbClr val="A9B0BD"/>
                </a:solidFill>
                <a:latin typeface="Arial"/>
              </a:rPr>
              <a:t>É o ponto ideal para a maioria dos times antes de sequer pensar em microsserviços.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60520"/>
            <a:ext cx="1088136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Ambientes modulares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2 · Programação Pragmática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A9B0BD"/>
                </a:solidFill>
                <a:latin typeface="Arial"/>
              </a:rPr>
              <a:t>A aplicação </a:t>
            </a:r>
            <a:r>
              <a:rPr sz="1600" b="1">
                <a:solidFill>
                  <a:srgbClr val="F5F7FA"/>
                </a:solidFill>
                <a:latin typeface="Arial"/>
              </a:rPr>
              <a:t>não sabe</a:t>
            </a:r>
            <a:r>
              <a:rPr sz="1600" b="0">
                <a:solidFill>
                  <a:srgbClr val="A9B0BD"/>
                </a:solidFill>
                <a:latin typeface="Arial"/>
              </a:rPr>
              <a:t> onde roda — ela apenas lê configuração de fora.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6400800" cy="320040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class Settings(BaseSettings):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model_config = SettingsConfigDict(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00B3FF"/>
                </a:solidFill>
                <a:latin typeface="Consolas"/>
              </a:rPr>
              <a:t>        env_prefix="SCREENFLIX_",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    env_file=".env")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app_name: str        # obrigatório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database_url: str     # obrigatório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openai_api_key: str   # obrigatório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    database_echo: bool = False  #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560320"/>
            <a:ext cx="4434840" cy="320040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Fail fast + seguro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Pydantic valida na inicialização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  → config inválida falha na hora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Campos sem default = impossível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  subir mal configurado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• Segredos vêm do ambiente;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  .env no .gitignore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Frontend: mesma ideia via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VITE_API_BASE (com modo demo).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560320"/>
            <a:ext cx="443484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O mapa das camadas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2 · Programação Pragmática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10515600" cy="713232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03120"/>
            <a:ext cx="109728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0370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E50914"/>
                </a:solidFill>
                <a:latin typeface="Arial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231136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0BD"/>
                </a:solidFill>
                <a:latin typeface="Arial"/>
              </a:rPr>
              <a:t>API HTTP (FastAPI) — endpoints finos, validação, DI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44368"/>
            <a:ext cx="10515600" cy="713232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44368"/>
            <a:ext cx="109728" cy="713232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449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0B3FF"/>
                </a:solidFill>
                <a:latin typeface="Arial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72384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0BD"/>
                </a:solidFill>
                <a:latin typeface="Arial"/>
              </a:rPr>
              <a:t>Services, Use Cases e Schemas (DTOs) — orquestração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85616"/>
            <a:ext cx="10515600" cy="713232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85616"/>
            <a:ext cx="109728" cy="713232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862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C55E"/>
                </a:solidFill>
                <a:latin typeface="Arial"/>
              </a:rP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136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0BD"/>
                </a:solidFill>
                <a:latin typeface="Arial"/>
              </a:rPr>
              <a:t>Repositórios — persistência (BaseRepository genérico)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626864"/>
            <a:ext cx="10515600" cy="713232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626864"/>
            <a:ext cx="109728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72744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754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0BD"/>
                </a:solidFill>
                <a:latin typeface="Arial"/>
              </a:rPr>
              <a:t>Entidades Media e Episode — o coração do negócio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A"/>
                </a:solidFill>
                <a:latin typeface="Arial"/>
              </a:rPr>
              <a:t>Dependências apontam para dentro:  </a:t>
            </a:r>
            <a:r>
              <a:rPr sz="1500" b="1">
                <a:solidFill>
                  <a:srgbClr val="00B3FF"/>
                </a:solidFill>
                <a:latin typeface="Consolas"/>
              </a:rPr>
              <a:t>presentation → application → domain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Clean Architecture — camada por camada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2 · Programação Pragmática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6400800" cy="292608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@router.get("/movies/top5")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async def top5(service = Depends(...)):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00B3FF"/>
                </a:solidFill>
                <a:latin typeface="Consolas"/>
              </a:rPr>
              <a:t>    return await service.top_five("movie")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class MediaService: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async def top_five(self, media_type):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    return await self.repository.media \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          .list_all(order_by="rating", ...)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965960"/>
            <a:ext cx="4434840" cy="292608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Injeção de Dependência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A DI encadeia: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sessão → service → endpoint.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O response_model garante 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A9B0BD"/>
                </a:solidFill>
                <a:latin typeface="Arial"/>
              </a:rPr>
              <a:t>contrato da saída.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965960"/>
            <a:ext cx="4434840" cy="64008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120640"/>
            <a:ext cx="11064240" cy="77724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8523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REGRA DE OURO:  </a:t>
            </a:r>
            <a:r>
              <a:rPr sz="1500" b="0">
                <a:solidFill>
                  <a:srgbClr val="F5F7FA"/>
                </a:solidFill>
                <a:latin typeface="Arial"/>
              </a:rPr>
              <a:t>nunca consulte o banco direto de um endpoint — sempre service →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Mãos à obra — respeitar as camadas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Adicionar GET /api/v1/media/count sem furar as camadas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2 · Programação Pragmática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881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Application  </a:t>
            </a:r>
            <a:r>
              <a:rPr sz="1700">
                <a:solidFill>
                  <a:srgbClr val="A9B0BD"/>
                </a:solidFill>
                <a:latin typeface="Arial"/>
              </a:rPr>
              <a:t>— método count() no MediaService usando o repositório.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Presentation  </a:t>
            </a:r>
            <a:r>
              <a:rPr sz="1700">
                <a:solidFill>
                  <a:srgbClr val="A9B0BD"/>
                </a:solidFill>
                <a:latin typeface="Arial"/>
              </a:rPr>
              <a:t>— um handler fino que só delega ao service.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Contrato  </a:t>
            </a:r>
            <a:r>
              <a:rPr sz="1700">
                <a:solidFill>
                  <a:srgbClr val="A9B0BD"/>
                </a:solidFill>
                <a:latin typeface="Arial"/>
              </a:rPr>
              <a:t>— um DTO Pydantic de resposta (nunca a entidade crua).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Testes  </a:t>
            </a:r>
            <a:r>
              <a:rPr sz="1700">
                <a:solidFill>
                  <a:srgbClr val="A9B0BD"/>
                </a:solidFill>
                <a:latin typeface="Arial"/>
              </a:rPr>
              <a:t>— caminho feliz + caminho de erro (política do projeto).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3036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REGRA DE OURO:  </a:t>
            </a:r>
            <a:r>
              <a:rPr sz="1500" b="0">
                <a:solidFill>
                  <a:srgbClr val="F5F7FA"/>
                </a:solidFill>
                <a:latin typeface="Arial"/>
              </a:rPr>
              <a:t>nenhuma query no endpoint. Validar com  make check.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DIA 2 · PROGRAMAÇÃO PRAGMÁTICA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Onde o ScreenFlix escolheu pragmatismo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2 · Programação Pragmática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7899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Entidades = modelos ORM  </a:t>
            </a:r>
            <a:r>
              <a:rPr sz="1700">
                <a:solidFill>
                  <a:srgbClr val="A9B0BD"/>
                </a:solidFill>
                <a:latin typeface="Arial"/>
              </a:rPr>
              <a:t>— simplicidade sobre portabilidade (não são POPOs puras).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register fire-and-forget  </a:t>
            </a:r>
            <a:r>
              <a:rPr sz="1700">
                <a:solidFill>
                  <a:srgbClr val="A9B0BD"/>
                </a:solidFill>
                <a:latin typeface="Arial"/>
              </a:rPr>
              <a:t>— dispara asyncio.create_task e responde na hora; sem fila durável, dívida consciente.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00B3FF"/>
                </a:solidFill>
                <a:latin typeface="Arial"/>
              </a:rPr>
              <a:t>▸  </a:t>
            </a:r>
            <a:r>
              <a:rPr sz="1700" b="1">
                <a:solidFill>
                  <a:srgbClr val="F5F7FA"/>
                </a:solidFill>
                <a:latin typeface="Arial"/>
              </a:rPr>
              <a:t>Top 5 no frontend  </a:t>
            </a:r>
            <a:r>
              <a:rPr sz="1700">
                <a:solidFill>
                  <a:srgbClr val="A9B0BD"/>
                </a:solidFill>
                <a:latin typeface="Arial"/>
              </a:rPr>
              <a:t>— apesar de existirem endpoints /top5, a Home calcula no cliente.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92040"/>
            <a:ext cx="10881360" cy="100584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Clean Architecture é um espectro, não um checklist. </a:t>
            </a:r>
            <a:r>
              <a:rPr sz="1600" b="0">
                <a:solidFill>
                  <a:srgbClr val="A9B0BD"/>
                </a:solidFill>
                <a:latin typeface="Arial"/>
              </a:rPr>
              <a:t>O valor está em camadas com responsabilidades claras — e em saber, conscientemente, onde relaxar.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2C55E"/>
                </a:solidFill>
                <a:latin typeface="Arial"/>
              </a:rPr>
              <a:t>DIA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5F7FA"/>
                </a:solidFill>
                <a:latin typeface="Arial"/>
              </a:rPr>
              <a:t>IA no Desenvolvimento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77639"/>
            <a:ext cx="10058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>
                <a:solidFill>
                  <a:srgbClr val="22C55E"/>
                </a:solidFill>
                <a:latin typeface="Arial"/>
              </a:rPr>
              <a:t>▸  </a:t>
            </a:r>
            <a:r>
              <a:rPr sz="1700">
                <a:solidFill>
                  <a:srgbClr val="F5F7FA"/>
                </a:solidFill>
                <a:latin typeface="Arial"/>
              </a:rPr>
              <a:t>Fazer a IA respeitar a infra (Dia 1) e a arquitetura (Dia 2)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700" b="1">
                <a:solidFill>
                  <a:srgbClr val="22C55E"/>
                </a:solidFill>
                <a:latin typeface="Arial"/>
              </a:rPr>
              <a:t>▸  </a:t>
            </a:r>
            <a:r>
              <a:rPr sz="1700">
                <a:solidFill>
                  <a:srgbClr val="F5F7FA"/>
                </a:solidFill>
                <a:latin typeface="Arial"/>
              </a:rPr>
              <a:t>Claude Code · Skills · Subagents · Agent Teams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Arial"/>
              </a:rPr>
              <a:t>DIA 3 · IA NO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O insight do ScreenFlix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O repo já foi construído pensando em IA — vamos traduzir esse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3 · IA no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5394960" cy="50292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3113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A9B0BD"/>
                </a:solidFill>
                <a:latin typeface="Arial"/>
              </a:rPr>
              <a:t>Contexto genérico do repo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48840"/>
            <a:ext cx="5303520" cy="50292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3113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Artefato nativo do Claude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539496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437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5F7FA"/>
                </a:solidFill>
                <a:latin typeface="Consolas"/>
              </a:rPr>
              <a:t>AGENTS.md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80720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43200"/>
            <a:ext cx="530352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84378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CLAUDE.md (memória de projeto)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39496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5F7FA"/>
                </a:solidFill>
                <a:latin typeface="Consolas"/>
              </a:rPr>
              <a:t>AI-CONFIG.json → quality_checks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35584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291840"/>
            <a:ext cx="530352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39242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Skill /quality-gate + Hook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539496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4106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5F7FA"/>
                </a:solidFill>
                <a:latin typeface="Consolas"/>
              </a:rPr>
              <a:t>agents/backend-development.md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90448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840480"/>
            <a:ext cx="530352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4106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Subagent  backend-dev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539496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48970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5F7FA"/>
                </a:solidFill>
                <a:latin typeface="Consolas"/>
              </a:rPr>
              <a:t>agents/qa-guidelines.md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1888" y="445312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389120"/>
            <a:ext cx="530352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4897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Subagent  qa-reviewer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37760"/>
            <a:ext cx="539496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03834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5F7FA"/>
                </a:solidFill>
                <a:latin typeface="Consolas"/>
              </a:rPr>
              <a:t>agents/security-check.md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61888" y="500176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937760"/>
            <a:ext cx="530352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03834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Subagent  security-check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486400"/>
            <a:ext cx="539496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8698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5F7FA"/>
                </a:solidFill>
                <a:latin typeface="Consolas"/>
              </a:rPr>
              <a:t>vários subagents juntos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5550408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486400"/>
            <a:ext cx="5303520" cy="457200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58698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C55E"/>
                </a:solidFill>
                <a:latin typeface="Consolas"/>
              </a:rPr>
              <a:t>Agent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Arial"/>
              </a:rPr>
              <a:t>DIA 3 · IA NO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CLAUDE.md — a memória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O Claude Code lê CLAUDE.md, não AGENTS.md → importe o que já existe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3 · IA no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6400800" cy="3703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A9B0BD"/>
                </a:solidFill>
                <a:latin typeface="Consolas"/>
              </a:rPr>
              <a:t># CLAUDE.md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22C55E"/>
                </a:solidFill>
                <a:latin typeface="Consolas"/>
              </a:rPr>
              <a:t>@AGENTS.md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22C55E"/>
                </a:solidFill>
                <a:latin typeface="Consolas"/>
              </a:rPr>
              <a:t>@AI-CONFIG.json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22C55E"/>
                </a:solidFill>
                <a:latin typeface="Consolas"/>
              </a:rPr>
              <a:t>@agents/architecture-planning.md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A9B0BD"/>
                </a:solidFill>
                <a:latin typeface="Consolas"/>
              </a:rPr>
              <a:t>## Regras rápidas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- camadas: nunca query no endpoint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- rode `make check` antes de concluir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F5F7FA"/>
                </a:solidFill>
                <a:latin typeface="Consolas"/>
              </a:rPr>
              <a:t>- segredos vêm do ambiente (.env)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148840"/>
            <a:ext cx="4434840" cy="370332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Reaproveite, não duplique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Lido no início de toda sessão;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sobrevive ao compact (relido do disco).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O @ importa o arquivo existente — todo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o trabalho do AGENTS.md e da pasta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agents entra no contexto.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Efeito: o Claude já entra sabendo das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camadas e dos quality gates.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148840"/>
            <a:ext cx="443484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Arial"/>
              </a:rPr>
              <a:t>DIA 3 · IA NO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Skills — encapsulando procedimentos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Procedimento reutilizável, carregado sob demanda, vira /comando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3 · IA no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6400800" cy="3703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# .claude/skills/quality-gate/SKILL.md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---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name: quality-gate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description: roda os gates bloqueantes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invocation: both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---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1. uv run ruff format 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2. uv run ruff check 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3. uv run mypy src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4. uv run pytest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148840"/>
            <a:ext cx="4434840" cy="370332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64592" tIns="182880" bIns="13716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5F7FA"/>
                </a:solidFill>
                <a:latin typeface="Arial"/>
              </a:rPr>
              <a:t>Skill  ·  /quality-gate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Vive em .claude/skills/&lt;nome&gt;/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SKILL.md. Carregada sob demanda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(só ocupa contexto quando usada).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Encapsula os quality_checks do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AI-CONFIG.json num só comando.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/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Hook: torna o gate automático no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evento Stop (settings.json) — 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A9B0BD"/>
                </a:solidFill>
                <a:latin typeface="Arial"/>
              </a:rPr>
              <a:t>máquina executa, não o modelo.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148840"/>
            <a:ext cx="4434840" cy="640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Arial"/>
              </a:rPr>
              <a:t>DIA 3 · IA NO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Subagents — especialistas por domínio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Cada guia de /agents vira um especialista isolado; o Claude delega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3 · IA no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5806440" cy="3703320"/>
          </a:xfrm>
          <a:prstGeom prst="rect">
            <a:avLst/>
          </a:prstGeom>
          <a:solidFill>
            <a:srgbClr val="0F0F17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# .claude/agents/qa-reviewer.md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---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name: qa-reviewer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description: revisor de QA; use após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  alterar código. Exige testes.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tools: Read, Grep, Glob, Bash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model: sonnet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5F7FA"/>
                </a:solidFill>
                <a:latin typeface="Consolas"/>
              </a:rPr>
              <a:t>---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A9B0BD"/>
                </a:solidFill>
                <a:latin typeface="Consolas"/>
              </a:rPr>
              <a:t>Fonte: agents/qa-guidelines.md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A9B0BD"/>
                </a:solidFill>
                <a:latin typeface="Consolas"/>
              </a:rPr>
              <a:t>agents/*.md   →   .claude/agents/*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651760"/>
            <a:ext cx="292608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5234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5F7FA"/>
                </a:solidFill>
                <a:latin typeface="Consolas"/>
              </a:rPr>
              <a:t>architecture-planning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7157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20" y="2651760"/>
            <a:ext cx="173736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94392" y="275234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2C55E"/>
                </a:solidFill>
                <a:latin typeface="Consolas"/>
              </a:rPr>
              <a:t>architect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200400"/>
            <a:ext cx="292608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30098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5F7FA"/>
                </a:solidFill>
                <a:latin typeface="Consolas"/>
              </a:rPr>
              <a:t>backend-development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26440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3200400"/>
            <a:ext cx="173736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330098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2C55E"/>
                </a:solidFill>
                <a:latin typeface="Consolas"/>
              </a:rPr>
              <a:t>backend-dev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3749040"/>
            <a:ext cx="292608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84962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5F7FA"/>
                </a:solidFill>
                <a:latin typeface="Consolas"/>
              </a:rPr>
              <a:t>database-development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81304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3749040"/>
            <a:ext cx="173736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94392" y="384962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2C55E"/>
                </a:solidFill>
                <a:latin typeface="Consolas"/>
              </a:rPr>
              <a:t>database-dev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297680"/>
            <a:ext cx="292608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39826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5F7FA"/>
                </a:solidFill>
                <a:latin typeface="Consolas"/>
              </a:rPr>
              <a:t>security-check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36168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4297680"/>
            <a:ext cx="173736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439826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2C55E"/>
                </a:solidFill>
                <a:latin typeface="Consolas"/>
              </a:rPr>
              <a:t>security-check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4846320"/>
            <a:ext cx="292608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946904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5F7FA"/>
                </a:solidFill>
                <a:latin typeface="Consolas"/>
              </a:rPr>
              <a:t>qa-guidelines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491032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2C55E"/>
                </a:solidFill>
                <a:latin typeface="Arial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4846320"/>
            <a:ext cx="1737360" cy="438912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2" y="494690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2C55E"/>
                </a:solidFill>
                <a:latin typeface="Consolas"/>
              </a:rPr>
              <a:t>qa-reviewer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4864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A9B0BD"/>
                </a:solidFill>
                <a:latin typeface="Arial"/>
              </a:rPr>
              <a:t>O principal delega pela description; cada um carrega só o seu guia.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2C55E"/>
                </a:solidFill>
                <a:latin typeface="Arial"/>
              </a:rPr>
              <a:t>DIA 3 · IA NO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Agent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0BD"/>
                </a:solidFill>
                <a:latin typeface="Arial"/>
              </a:rPr>
              <a:t>Orquestração multi-agente —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Dia 3 · IA no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EXPERIMENTAL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2560320" cy="50292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F7FA"/>
                </a:solidFill>
                <a:latin typeface="Arial"/>
              </a:rPr>
              <a:t>Aspecto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514600"/>
            <a:ext cx="4160520" cy="50292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624328"/>
            <a:ext cx="3977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F7FA"/>
                </a:solidFill>
                <a:latin typeface="Arial"/>
              </a:rPr>
              <a:t>Subagents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514600"/>
            <a:ext cx="4343400" cy="502920"/>
          </a:xfrm>
          <a:prstGeom prst="rect">
            <a:avLst/>
          </a:prstGeom>
          <a:solidFill>
            <a:srgbClr val="1E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62432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F7FA"/>
                </a:solidFill>
                <a:latin typeface="Arial"/>
              </a:rPr>
              <a:t>Agent Teams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2560320" cy="566928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Comunicação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017520"/>
            <a:ext cx="4160520" cy="566928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1546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Reportam ao principal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3017520"/>
            <a:ext cx="4343400" cy="566928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154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Teammates conversam entre 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2560320" cy="566928"/>
          </a:xfrm>
          <a:prstGeom prst="rect">
            <a:avLst/>
          </a:prstGeom>
          <a:solidFill>
            <a:srgbClr val="141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216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Coordenação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584448"/>
            <a:ext cx="4160520" cy="566928"/>
          </a:xfrm>
          <a:prstGeom prst="rect">
            <a:avLst/>
          </a:prstGeom>
          <a:solidFill>
            <a:srgbClr val="141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7216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O principal gerencia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3584448"/>
            <a:ext cx="4343400" cy="566928"/>
          </a:xfrm>
          <a:prstGeom prst="rect">
            <a:avLst/>
          </a:prstGeom>
          <a:solidFill>
            <a:srgbClr val="141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72160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Lista de tarefas compartilhada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51376"/>
            <a:ext cx="2560320" cy="566928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88536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0B3FF"/>
                </a:solidFill>
                <a:latin typeface="Arial"/>
              </a:rPr>
              <a:t>Uso ideal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4151376"/>
            <a:ext cx="4160520" cy="566928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288536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Tarefas focadas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4151376"/>
            <a:ext cx="4343400" cy="566928"/>
          </a:xfrm>
          <a:prstGeom prst="rect">
            <a:avLst/>
          </a:prstGeom>
          <a:solidFill>
            <a:srgbClr val="1A1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288536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Trabalho paralelo complexo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2C55E"/>
                </a:solidFill>
                <a:latin typeface="Arial"/>
              </a:rPr>
              <a:t>Regra prática: </a:t>
            </a:r>
            <a:r>
              <a:rPr sz="1500" b="0">
                <a:solidFill>
                  <a:srgbClr val="A9B0BD"/>
                </a:solidFill>
                <a:latin typeface="Arial"/>
              </a:rPr>
              <a:t>comece simples — subagent para mudanças focadas; team só para trabalho amplo e paralelizável.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4572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Arial"/>
              </a:rPr>
              <a:t>SÍNTESE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5F7FA"/>
                </a:solidFill>
                <a:latin typeface="Arial"/>
              </a:rPr>
              <a:t>A jornada, num só repositório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A9B0BD"/>
                </a:solidFill>
                <a:latin typeface="Arial"/>
              </a:rPr>
              <a:t>ScreenFlix Workshop</a:t>
            </a:r>
            <a:r>
              <a:rPr sz="1000" b="0">
                <a:solidFill>
                  <a:srgbClr val="A9B0BD"/>
                </a:solidFill>
                <a:latin typeface="Arial"/>
              </a:rPr>
              <a:t>   ·   Síntese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41908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A9B0BD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1554480" cy="77724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1401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DIA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94560"/>
            <a:ext cx="9235440" cy="77724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30428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Empacotar a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615184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Dockerfile, compose, Makefile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54680"/>
            <a:ext cx="1554480" cy="777240"/>
          </a:xfrm>
          <a:prstGeom prst="rect">
            <a:avLst/>
          </a:prstGeom>
          <a:solidFill>
            <a:srgbClr val="00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7413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DIA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154680"/>
            <a:ext cx="9235440" cy="77724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326440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Organizar por dentro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3575304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Ambientes modulares + Clean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1554480" cy="7772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3425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5F7FA"/>
                </a:solidFill>
                <a:latin typeface="Arial"/>
              </a:rPr>
              <a:t>DIA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114800"/>
            <a:ext cx="9235440" cy="777240"/>
          </a:xfrm>
          <a:prstGeom prst="rect">
            <a:avLst/>
          </a:prstGeom>
          <a:solidFill>
            <a:srgbClr val="1A1A25"/>
          </a:solidFill>
          <a:ln w="12700">
            <a:solidFill>
              <a:srgbClr val="1E1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224528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5F7FA"/>
                </a:solidFill>
                <a:latin typeface="Arial"/>
              </a:rPr>
              <a:t>IA disciplinada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535424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9B0BD"/>
                </a:solidFill>
                <a:latin typeface="Arial"/>
              </a:rPr>
              <a:t>CLAUDE.md, Skills, Subagents,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F7FA"/>
                </a:solidFill>
                <a:latin typeface="Arial"/>
              </a:rPr>
              <a:t>Os artefatos de IA fazem cumprir a arquitetura: </a:t>
            </a:r>
            <a:r>
              <a:rPr sz="1500" b="0">
                <a:solidFill>
                  <a:srgbClr val="A9B0BD"/>
                </a:solidFill>
                <a:latin typeface="Arial"/>
              </a:rPr>
              <a:t>o qa-reviewer exige testes, o architect protege as camadas, a Skill roda os gates.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5F7FA"/>
                </a:solidFill>
                <a:latin typeface="Arial"/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A9B0BD"/>
                </a:solidFill>
                <a:latin typeface="Arial"/>
              </a:rPr>
              <a:t>Perguntas? Vamos colocar a mão na massa.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0BD"/>
                </a:solidFill>
                <a:latin typeface="Arial"/>
              </a:rPr>
              <a:t>Material completo:  </a:t>
            </a:r>
            <a:r>
              <a:rPr sz="1400" b="1">
                <a:solidFill>
                  <a:srgbClr val="00B3FF"/>
                </a:solidFill>
                <a:latin typeface="Consolas"/>
              </a:rPr>
              <a:t>docs/workshop/ (roteiros + apostila)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