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50914"/>
                </a:solidFill>
                <a:latin typeface="Arial"/>
              </a:rPr>
              <a:t>S C R E E N F L I 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789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5F7FA"/>
                </a:solidFill>
                <a:latin typeface="Arial"/>
              </a:rPr>
              <a:t>Workshop de Engenharia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A9B0BD"/>
                </a:solidFill>
                <a:latin typeface="Arial"/>
              </a:rPr>
              <a:t>Do container ao código, do código à IA — um projeto como fio condutor.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3429000" cy="13716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77639"/>
            <a:ext cx="342900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42336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44567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F7FA"/>
                </a:solidFill>
                <a:latin typeface="Arial"/>
              </a:rPr>
              <a:t>Infra &amp; Containers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3977639"/>
            <a:ext cx="3429000" cy="13716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507992" y="3977639"/>
            <a:ext cx="342900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9160" y="42336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4544567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F7FA"/>
                </a:solidFill>
                <a:latin typeface="Arial"/>
              </a:rPr>
              <a:t>Programação Pragmática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3977639"/>
            <a:ext cx="3429000" cy="13716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4" y="3977639"/>
            <a:ext cx="342900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4233671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544567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5F7FA"/>
                </a:solidFill>
                <a:latin typeface="Arial"/>
              </a:rPr>
              <a:t>IA no Desenvolvimento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A9B0BD"/>
                </a:solidFill>
                <a:latin typeface="Arial"/>
              </a:rPr>
              <a:t>3 encontros de 1h30</a:t>
            </a:r>
            <a:r>
              <a:rPr sz="1300" b="0">
                <a:solidFill>
                  <a:srgbClr val="A9B0BD"/>
                </a:solidFill>
                <a:latin typeface="Arial"/>
              </a:rPr>
              <a:t>     ·     FastAPI · PostgreSQL · Docker · Vue 3 · 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VISÃO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Agenda dos 3 dias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Visão Geral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3611880" cy="35661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0312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97180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Por que containers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Dockerfile multi-stage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docker-compose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E50914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Comandos &amp; Makefile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03120"/>
            <a:ext cx="3611880" cy="35661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103120"/>
            <a:ext cx="361188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97180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Ambientes modulares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Clean Architecture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Regra de dependência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Trade-offs pragmáticos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103120"/>
            <a:ext cx="3611880" cy="35661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103120"/>
            <a:ext cx="361188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297180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Claude Code &amp; CLAUDE.md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Skills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Subagents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▸  </a:t>
            </a:r>
            <a:r>
              <a:rPr sz="1500">
                <a:solidFill>
                  <a:srgbClr val="F5F7FA"/>
                </a:solidFill>
                <a:latin typeface="Arial"/>
              </a:rPr>
              <a:t>Agent Teams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Um único código-base — o ScreenFlix — conecta infra, arquitetura e 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INTRODUÇÃO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O projeto ScreenFlix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Catálogo de filmes e séries — nosso estudo de caso vivo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Introdução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295144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Backend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148840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295144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FastAPI · SQLAlchemy async · Pydantic · Structlog · uvicorn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98648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044952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Dados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898648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044952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PostgreSQL 18 — tabelas media e episode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48456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79476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Infra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648456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794760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Docker (multi-stage) · docker-compose · uv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98264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45445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Frontend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4398264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4544568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Vue 3 · Vue Router · Pinia · Vite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48072"/>
            <a:ext cx="2377440" cy="603504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294376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B3FF"/>
                </a:solidFill>
                <a:latin typeface="Arial"/>
              </a:rPr>
              <a:t>Integrações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5148072"/>
            <a:ext cx="8595360" cy="603504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5294376"/>
            <a:ext cx="8321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5F7FA"/>
                </a:solidFill>
                <a:latin typeface="Arial"/>
              </a:rPr>
              <a:t>OMDb (ingestão) + OpenAI (normalização por schema)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50914"/>
                </a:solidFill>
                <a:latin typeface="Arial"/>
              </a:rPr>
              <a:t>DIA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5F7FA"/>
                </a:solidFill>
                <a:latin typeface="Arial"/>
              </a:rPr>
              <a:t>Infra &amp; Containers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977639"/>
            <a:ext cx="10058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E50914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Empacotar a aplicação de forma reprodutível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E50914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Dockerfile multi-stage · docker-compose · comandos · Makefile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Por que containers?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9B0BD"/>
                </a:solidFill>
                <a:latin typeface="Arial"/>
              </a:rPr>
              <a:t>Sem containers, cada dev reproduz o ambiente na mão — a origem do </a:t>
            </a:r>
            <a:r>
              <a:rPr sz="1600" b="1">
                <a:solidFill>
                  <a:srgbClr val="F5F7FA"/>
                </a:solidFill>
                <a:latin typeface="Arial"/>
              </a:rPr>
              <a:t>“na minha máquina funciona”.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11880" cy="22860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Reprodutibilidade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A mesma imagem roda igual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em qualquer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2743200"/>
            <a:ext cx="3611880" cy="22860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Isolamento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O Postgres do projeto não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conflita com outro local.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74320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743200"/>
            <a:ext cx="3611880" cy="22860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Paridade dev/prod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A imagem testada é 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que vai para produção.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743200"/>
            <a:ext cx="36118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Dockerfile multi-stage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6492240" cy="402336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A9B0BD"/>
                </a:solidFill>
                <a:latin typeface="Consolas"/>
              </a:rPr>
              <a:t># Stage 1: builder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FROM python:3.13-slim AS builder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RUN apt-get install build-essential libpq-dev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COPY pyproject.toml uv.lock ./   # cache de deps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RUN pip install uv &amp;&amp; uv sync --frozen --no-dev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COPY src/ src/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A9B0BD"/>
                </a:solidFill>
                <a:latin typeface="Consolas"/>
              </a:rPr>
              <a:t># Stage 2: runtime (enxuto)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FROM python:3.13-slim AS runtime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RUN useradd -r screenflix        # non-root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COPY --from=builder /app/.venv .venv/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HEALTHCHECK CMD curl -f .../healthz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CMD ["uvicorn", "screenflix.main:app", ...]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0" y="1965960"/>
            <a:ext cx="4343400" cy="40233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Por que multi-stage?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Ferramentas de build ficam fora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da imagem final → menor e segura.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Ordem dos COPY = cache de camadas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Usuário non-root (segurança)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HEALTHCHECK em /healthz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(contrato de infra)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PYTHONPATH=/app/src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69480" y="1965960"/>
            <a:ext cx="434340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docker-compose: db +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Dois serviços ativos — o api sobe após o banco ficar saudável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6766560" cy="384048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services: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db: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image: postgres:18-alpine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volumes: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- ./scripts/init.sql:/.../init.sql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ports: ["5532:5432"]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    healthcheck: pg_isready ...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api: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build: { dockerfile: Dockerfile }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ports: ["8000:8000"]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    volumes: [ ./src:/app/src ]  # hot-reload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depends_on: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22C55E"/>
                </a:solidFill>
                <a:latin typeface="Consolas"/>
              </a:rPr>
              <a:t>      db: { condition: service_healthy 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2148840"/>
            <a:ext cx="4069080" cy="18288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image vs build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db usa imagem pronta;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api constrói do Dockerfile.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148840"/>
            <a:ext cx="406908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43800" y="4114800"/>
            <a:ext cx="4069080" cy="1874519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YAGNI na prática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O serviço redis, antes reservado,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foi removido por falta de uso.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Não carregue infra que não usa.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4114800"/>
            <a:ext cx="406908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DIA 1 · INFRA &amp;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Comandos &amp; Makefile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1 · Infra &amp; Containers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5486400" cy="402336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A9B0BD"/>
                </a:solidFill>
                <a:latin typeface="Consolas"/>
              </a:rPr>
              <a:t># Comandos do dia a dia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build -t screenflix 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up --build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logs -f api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exec db psql ...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docker compose down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F5F7FA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A9B0BD"/>
                </a:solidFill>
                <a:latin typeface="Consolas"/>
              </a:rPr>
              <a:t># O projeto tem Makefile: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22C55E"/>
                </a:solidFill>
                <a:latin typeface="Consolas"/>
              </a:rPr>
              <a:t>make dev       make up-build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22C55E"/>
                </a:solidFill>
                <a:latin typeface="Consolas"/>
              </a:rPr>
              <a:t>make check     make front-dev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65960"/>
            <a:ext cx="5349240" cy="402336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Makefile — interface única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Já existe no repo. Ninguém decora 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comando longo do uvicorn → make dev.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.DEFAULT_GOAL=help (self-documented)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Seções: setup · dev · qualidade ·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docker · frontend · limpeza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make check = CI local (lint+types+test)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test-unit / test-integration (markers)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Hands-on: estender com make db-shell.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965960"/>
            <a:ext cx="534924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0B3FF"/>
                </a:solidFill>
                <a:latin typeface="Arial"/>
              </a:rPr>
              <a:t>DIA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5F7FA"/>
                </a:solidFill>
                <a:latin typeface="Arial"/>
              </a:rPr>
              <a:t>Programação Pragmática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977639"/>
            <a:ext cx="10058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Como o código se organiza por dentro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Ambientes modulares · Clean Architecture · sem dogmatismo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Ambientes modulares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9B0BD"/>
                </a:solidFill>
                <a:latin typeface="Arial"/>
              </a:rPr>
              <a:t>A aplicação </a:t>
            </a:r>
            <a:r>
              <a:rPr sz="1600" b="1">
                <a:solidFill>
                  <a:srgbClr val="F5F7FA"/>
                </a:solidFill>
                <a:latin typeface="Arial"/>
              </a:rPr>
              <a:t>não sabe</a:t>
            </a:r>
            <a:r>
              <a:rPr sz="1600" b="0">
                <a:solidFill>
                  <a:srgbClr val="A9B0BD"/>
                </a:solidFill>
                <a:latin typeface="Arial"/>
              </a:rPr>
              <a:t> onde roda — ela apenas lê configuração de fora.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6400800" cy="320040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class Settings(BaseSettings):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model_config = SettingsConfigDict(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        env_prefix="SCREENFLIX_",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  env_file=".env")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app_name: str        # obrigatório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database_url: str     # obrigatório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openai_api_key: str   # obrigatório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A9B0BD"/>
                </a:solidFill>
                <a:latin typeface="Consolas"/>
              </a:rPr>
              <a:t>    database_echo: bool = False  # default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560320"/>
            <a:ext cx="4434840" cy="320040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Fail fast + seguro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Pydantic valida na inicialização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→ config inválida falha na hora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Campos sem default = impossível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subir mal configurado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• Segredos vêm do ambiente;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  .env no .gitignore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Frontend: mesma ideia via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A9B0BD"/>
                </a:solidFill>
                <a:latin typeface="Arial"/>
              </a:rPr>
              <a:t>VITE_API_BASE (com modo demo).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560320"/>
            <a:ext cx="443484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Clean Architecture — as 4 camadas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03120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03120"/>
            <a:ext cx="109728" cy="713232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0370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50914"/>
                </a:solidFill>
                <a:latin typeface="Arial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231136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API HTTP (FastAPI) — endpoints finos, validação, DI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944368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944368"/>
            <a:ext cx="109728" cy="713232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4495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0B3FF"/>
                </a:solidFill>
                <a:latin typeface="Arial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072384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Services, Use Cases e Schemas (DTOs) — orquestração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85616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85616"/>
            <a:ext cx="109728" cy="713232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862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2C55E"/>
                </a:solidFill>
                <a:latin typeface="Arial"/>
              </a:rPr>
              <a:t>Infrastructure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913632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Repositórios — persistência (BaseRepository genérico)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626864"/>
            <a:ext cx="10515600" cy="713232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626864"/>
            <a:ext cx="109728" cy="7132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7274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Domain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54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Entidades Media e Episode — o coração do negócio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F7FA"/>
                </a:solidFill>
                <a:latin typeface="Arial"/>
              </a:rPr>
              <a:t>Dependências apontam para dentro:  </a:t>
            </a:r>
            <a:r>
              <a:rPr sz="1500" b="1">
                <a:solidFill>
                  <a:srgbClr val="00B3FF"/>
                </a:solidFill>
                <a:latin typeface="Consolas"/>
              </a:rPr>
              <a:t>presentation → application → domain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Padrões &amp; regra de ouro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65960"/>
            <a:ext cx="6400800" cy="2926080"/>
          </a:xfrm>
          <a:prstGeom prst="rect">
            <a:avLst/>
          </a:prstGeom>
          <a:solidFill>
            <a:srgbClr val="0F0F17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09728" tIns="109728" bIns="109728"/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@router.get("/movies/top5")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async def top5(service = Depends(...)):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00B3FF"/>
                </a:solidFill>
                <a:latin typeface="Consolas"/>
              </a:rPr>
              <a:t>    return await service.top_five("movie")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class MediaService: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async def top_five(self, media_type):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  return await self.repository.media \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300">
                <a:solidFill>
                  <a:srgbClr val="F5F7FA"/>
                </a:solidFill>
                <a:latin typeface="Consolas"/>
              </a:rPr>
              <a:t>            .list_all(order_by="rating", 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1965960"/>
            <a:ext cx="4434840" cy="292608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Injeção de Dependência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A DI encadeia: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sessão → service → endpoint.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O response_model garante 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contrato da saída.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965960"/>
            <a:ext cx="4434840" cy="64008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11064240" cy="77724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85232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REGRA DE OURO:  </a:t>
            </a:r>
            <a:r>
              <a:rPr sz="1500" b="0">
                <a:solidFill>
                  <a:srgbClr val="F5F7FA"/>
                </a:solidFill>
                <a:latin typeface="Arial"/>
              </a:rPr>
              <a:t>nunca consulte o banco direto de um endpoint — sempre service → repository.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DIA 2 · PROGRAMAÇÃO PRAGMÁTICA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Onde o ScreenFlix escolheu pragmatismo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2 · Programação Pragmática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07899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 b="1">
                <a:solidFill>
                  <a:srgbClr val="F5F7FA"/>
                </a:solidFill>
                <a:latin typeface="Arial"/>
              </a:rPr>
              <a:t>Entidades = modelos ORM  </a:t>
            </a:r>
            <a:r>
              <a:rPr sz="1700">
                <a:solidFill>
                  <a:srgbClr val="A9B0BD"/>
                </a:solidFill>
                <a:latin typeface="Arial"/>
              </a:rPr>
              <a:t>— simplicidade sobre portabilidade (não são POPOs puras).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 b="1">
                <a:solidFill>
                  <a:srgbClr val="F5F7FA"/>
                </a:solidFill>
                <a:latin typeface="Arial"/>
              </a:rPr>
              <a:t>register fire-and-forget  </a:t>
            </a:r>
            <a:r>
              <a:rPr sz="1700">
                <a:solidFill>
                  <a:srgbClr val="A9B0BD"/>
                </a:solidFill>
                <a:latin typeface="Arial"/>
              </a:rPr>
              <a:t>— dispara asyncio.create_task e responde na hora; sem fila durável, dívida consciente.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 b="1">
                <a:solidFill>
                  <a:srgbClr val="00B3FF"/>
                </a:solidFill>
                <a:latin typeface="Arial"/>
              </a:rPr>
              <a:t>▸  </a:t>
            </a:r>
            <a:r>
              <a:rPr sz="1700" b="1">
                <a:solidFill>
                  <a:srgbClr val="F5F7FA"/>
                </a:solidFill>
                <a:latin typeface="Arial"/>
              </a:rPr>
              <a:t>Top 5 no frontend  </a:t>
            </a:r>
            <a:r>
              <a:rPr sz="1700">
                <a:solidFill>
                  <a:srgbClr val="A9B0BD"/>
                </a:solidFill>
                <a:latin typeface="Arial"/>
              </a:rPr>
              <a:t>— apesar de existirem endpoints /top5, a Home calcula no cliente.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92040"/>
            <a:ext cx="10881360" cy="10058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7492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Clean Architecture é um espectro, não um checklist. </a:t>
            </a:r>
            <a:r>
              <a:rPr sz="1600" b="0">
                <a:solidFill>
                  <a:srgbClr val="A9B0BD"/>
                </a:solidFill>
                <a:latin typeface="Arial"/>
              </a:rPr>
              <a:t>O valor está em camadas com responsabilidades claras — e em saber, conscientemente, onde relaxar.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2C55E"/>
                </a:solidFill>
                <a:latin typeface="Arial"/>
              </a:rPr>
              <a:t>DIA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200" b="1">
                <a:solidFill>
                  <a:srgbClr val="F5F7FA"/>
                </a:solidFill>
                <a:latin typeface="Arial"/>
              </a:rPr>
              <a:t>IA no Desenvolvimento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977639"/>
            <a:ext cx="10058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22C55E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Fazer a IA respeitar a infra (Dia 1) e a arquitetura (Dia 2)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700" b="1">
                <a:solidFill>
                  <a:srgbClr val="22C55E"/>
                </a:solidFill>
                <a:latin typeface="Arial"/>
              </a:rPr>
              <a:t>▸  </a:t>
            </a:r>
            <a:r>
              <a:rPr sz="1700">
                <a:solidFill>
                  <a:srgbClr val="F5F7FA"/>
                </a:solidFill>
                <a:latin typeface="Arial"/>
              </a:rPr>
              <a:t>Claude Code · Skills · Subagents · Agent Teams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O insight do ScreenFlix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O repo já foi construído pensando em IA — vamos traduzir esse 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3 · IA no Desenvolvimento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148840"/>
            <a:ext cx="539496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A9B0BD"/>
                </a:solidFill>
                <a:latin typeface="Arial"/>
              </a:rPr>
              <a:t>Contexto genérico do repo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148840"/>
            <a:ext cx="530352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311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2C55E"/>
                </a:solidFill>
                <a:latin typeface="Arial"/>
              </a:rPr>
              <a:t>Artefato nativo do Claude 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74320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437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1888" y="280720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74320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84378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CLAUDE.md (memória de projeto)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9184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39242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AI-CONFIG.json → quality_checks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61888" y="335584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329184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39242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Skill /quality-gate + Hook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84048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4106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agents/backend-development.md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61888" y="390448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84048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94106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Subagent  backend-dev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8912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48970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agents/qa-guidelines.md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1888" y="445312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38912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8970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Subagent  qa-reviewer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3776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03834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agents/security-check.md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61888" y="500176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493776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503834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Subagent  security-check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486400"/>
            <a:ext cx="539496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586984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5F7FA"/>
                </a:solidFill>
                <a:latin typeface="Consolas"/>
              </a:rPr>
              <a:t>vários subagents juntos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61888" y="5550408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2C55E"/>
                </a:solidFill>
                <a:latin typeface="Arial"/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92240" y="5586984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Agent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Skills vs Subagents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3 · IA no Desenvolvimento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5440680" cy="393192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Skill  ·  .claude/skills/*/SKILL.md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Procedimento reutilizável na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conversa principal, carregado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sob demanda. Vira /comando.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Ex.: /quality-gate roda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ruff format · ruff check ·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mypy src · pytest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(os gates bloqueantes do projeto).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Hook: torna o gate automático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no evento Stop (settings.json).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5440680" cy="6400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2011680"/>
            <a:ext cx="5440680" cy="393192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64592" tIns="182880" bIns="137160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5F7FA"/>
                </a:solidFill>
                <a:latin typeface="Arial"/>
              </a:rPr>
              <a:t>Subagent  ·  .claude/agents/*.md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Trabalhador isolado, com contexto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 ferramentas próprios. O Claude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principal delega pela description.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Cada guia de /agents vira um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especialista: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  architect · backend-dev ·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  database-dev · security-check ·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  qa-reviewer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400">
                <a:solidFill>
                  <a:srgbClr val="A9B0BD"/>
                </a:solidFill>
                <a:latin typeface="Arial"/>
              </a:rPr>
              <a:t>Roda do zero e devolve resultado.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2011680"/>
            <a:ext cx="5440680" cy="64008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2C55E"/>
                </a:solidFill>
                <a:latin typeface="Arial"/>
              </a:rPr>
              <a:t>DIA 3 · IA NO DESENVOLVIMENTO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Agent Teams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9B0BD"/>
                </a:solidFill>
                <a:latin typeface="Arial"/>
              </a:rPr>
              <a:t>Orquestração multi-agente —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Dia 3 · IA no Desenvolvimento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5F7FA"/>
                </a:solidFill>
                <a:latin typeface="Arial"/>
              </a:rPr>
              <a:t>EXPERIMENTAL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14600"/>
            <a:ext cx="2560320" cy="50292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Aspecto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2514600"/>
            <a:ext cx="416052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2624328"/>
            <a:ext cx="3977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Subagents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2514600"/>
            <a:ext cx="4343400" cy="502920"/>
          </a:xfrm>
          <a:prstGeom prst="rect">
            <a:avLst/>
          </a:prstGeom>
          <a:solidFill>
            <a:srgbClr val="1E1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2432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F7FA"/>
                </a:solidFill>
                <a:latin typeface="Arial"/>
              </a:rPr>
              <a:t>Agent Teams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25603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1546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Comunicação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3017520"/>
            <a:ext cx="41605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15468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Reportam ao principal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80" y="3017520"/>
            <a:ext cx="434340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0" y="315468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Teammates conversam entre si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84448"/>
            <a:ext cx="2560320" cy="566928"/>
          </a:xfrm>
          <a:prstGeom prst="rect">
            <a:avLst/>
          </a:prstGeom>
          <a:solidFill>
            <a:srgbClr val="141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72160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Coordenação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3584448"/>
            <a:ext cx="4160520" cy="566928"/>
          </a:xfrm>
          <a:prstGeom prst="rect">
            <a:avLst/>
          </a:prstGeom>
          <a:solidFill>
            <a:srgbClr val="141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6120" y="372160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O principal gerencia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3584448"/>
            <a:ext cx="4343400" cy="566928"/>
          </a:xfrm>
          <a:prstGeom prst="rect">
            <a:avLst/>
          </a:prstGeom>
          <a:solidFill>
            <a:srgbClr val="141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72160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Lista de tarefas compartilhada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151376"/>
            <a:ext cx="25603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288536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B3FF"/>
                </a:solidFill>
                <a:latin typeface="Arial"/>
              </a:rPr>
              <a:t>Uso ideal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4151376"/>
            <a:ext cx="416052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6120" y="4288536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Tarefas focadas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9480" y="4151376"/>
            <a:ext cx="4343400" cy="566928"/>
          </a:xfrm>
          <a:prstGeom prst="rect">
            <a:avLst/>
          </a:prstGeom>
          <a:solidFill>
            <a:srgbClr val="1A1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0" y="4288536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Trabalho paralelo complexo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2C55E"/>
                </a:solidFill>
                <a:latin typeface="Arial"/>
              </a:rPr>
              <a:t>Regra prática: </a:t>
            </a:r>
            <a:r>
              <a:rPr sz="1500" b="0">
                <a:solidFill>
                  <a:srgbClr val="A9B0BD"/>
                </a:solidFill>
                <a:latin typeface="Arial"/>
              </a:rPr>
              <a:t>comece simples — subagent para mudanças focadas; team só para trabalho amplo e paralelizável.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45720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457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E50914"/>
                </a:solidFill>
                <a:latin typeface="Arial"/>
              </a:rPr>
              <a:t>SÍNTESE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786384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5F7FA"/>
                </a:solidFill>
                <a:latin typeface="Arial"/>
              </a:rPr>
              <a:t>A jornada, num só 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A9B0BD"/>
                </a:solidFill>
                <a:latin typeface="Arial"/>
              </a:rPr>
              <a:t>ScreenFlix Workshop</a:t>
            </a:r>
            <a:r>
              <a:rPr sz="1000" b="0">
                <a:solidFill>
                  <a:srgbClr val="A9B0BD"/>
                </a:solidFill>
                <a:latin typeface="Arial"/>
              </a:rPr>
              <a:t>   ·   Síntese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419088"/>
            <a:ext cx="1371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19088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A9B0BD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94560"/>
            <a:ext cx="1554480" cy="777240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1401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F7FA"/>
                </a:solidFill>
                <a:latin typeface="Arial"/>
              </a:rPr>
              <a:t>DIA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194560"/>
            <a:ext cx="9235440" cy="7772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230428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F7FA"/>
                </a:solidFill>
                <a:latin typeface="Arial"/>
              </a:rPr>
              <a:t>Empacotar 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615184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Dockerfile, compose, Makefile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154680"/>
            <a:ext cx="1554480" cy="777240"/>
          </a:xfrm>
          <a:prstGeom prst="rect">
            <a:avLst/>
          </a:prstGeom>
          <a:solidFill>
            <a:srgbClr val="00B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7413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F7FA"/>
                </a:solidFill>
                <a:latin typeface="Arial"/>
              </a:rPr>
              <a:t>DIA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3154680"/>
            <a:ext cx="9235440" cy="7772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4600" y="326440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F7FA"/>
                </a:solidFill>
                <a:latin typeface="Arial"/>
              </a:rPr>
              <a:t>Organizar por dentro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575304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Ambientes modulares + Clean Architecture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14800"/>
            <a:ext cx="1554480" cy="777240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3425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5F7FA"/>
                </a:solidFill>
                <a:latin typeface="Arial"/>
              </a:rPr>
              <a:t>DIA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0" y="4114800"/>
            <a:ext cx="9235440" cy="777240"/>
          </a:xfrm>
          <a:prstGeom prst="rect">
            <a:avLst/>
          </a:prstGeom>
          <a:solidFill>
            <a:srgbClr val="1A1A25"/>
          </a:solidFill>
          <a:ln w="12700">
            <a:solidFill>
              <a:srgbClr val="1E1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14600" y="4224528"/>
            <a:ext cx="8778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5F7FA"/>
                </a:solidFill>
                <a:latin typeface="Arial"/>
              </a:rPr>
              <a:t>IA disciplinada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535424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9B0BD"/>
                </a:solidFill>
                <a:latin typeface="Arial"/>
              </a:rPr>
              <a:t>CLAUDE.md, Skills, Subagents, Teams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5780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F7FA"/>
                </a:solidFill>
                <a:latin typeface="Arial"/>
              </a:rPr>
              <a:t>Os artefatos de IA fazem cumprir a arquitetura: </a:t>
            </a:r>
            <a:r>
              <a:rPr sz="1500" b="0">
                <a:solidFill>
                  <a:srgbClr val="A9B0BD"/>
                </a:solidFill>
                <a:latin typeface="Arial"/>
              </a:rPr>
              <a:t>o qa-reviewer exige testes, o architect protege as camadas, a Skill roda os gates.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509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5F7FA"/>
                </a:solidFill>
                <a:latin typeface="Arial"/>
              </a:rPr>
              <a:t>Obrigado!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42900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A9B0BD"/>
                </a:solidFill>
                <a:latin typeface="Arial"/>
              </a:rPr>
              <a:t>Perguntas? Vamos colocar a mão na massa.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9B0BD"/>
                </a:solidFill>
                <a:latin typeface="Arial"/>
              </a:rPr>
              <a:t>Material completo:  </a:t>
            </a:r>
            <a:r>
              <a:rPr sz="1400" b="1">
                <a:solidFill>
                  <a:srgbClr val="00B3FF"/>
                </a:solidFill>
                <a:latin typeface="Consolas"/>
              </a:rPr>
              <a:t>docs/workshop/ (roteiros + apostila)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